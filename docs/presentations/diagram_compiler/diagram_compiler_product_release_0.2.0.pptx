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a93e7dada34a57" /><Relationship Type="http://schemas.openxmlformats.org/officeDocument/2006/relationships/extended-properties" Target="/docProps/app.xml" Id="Rca9e4e986c904376" /><Relationship Type="http://schemas.openxmlformats.org/officeDocument/2006/relationships/officeDocument" Target="/ppt/presentation.xml" Id="Ra9118437fc0743a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60ee6d28268426c"/>
  </p:sldMasterIdLst>
  <p:notesMasterIdLst>
    <p:notesMasterId xmlns:r="http://schemas.openxmlformats.org/officeDocument/2006/relationships" r:id="R57f91df04bbb45d8"/>
  </p:notesMasterIdLst>
  <p:sldIdLst>
    <p:sldId xmlns:r="http://schemas.openxmlformats.org/officeDocument/2006/relationships" id="256" r:id="Re047694e1665491f"/>
    <p:sldId xmlns:r="http://schemas.openxmlformats.org/officeDocument/2006/relationships" id="257" r:id="Rd402d80bdba0495e"/>
    <p:sldId xmlns:r="http://schemas.openxmlformats.org/officeDocument/2006/relationships" id="258" r:id="Rfc2e249274884420"/>
    <p:sldId xmlns:r="http://schemas.openxmlformats.org/officeDocument/2006/relationships" id="259" r:id="R15d9a5b930b44d51"/>
    <p:sldId xmlns:r="http://schemas.openxmlformats.org/officeDocument/2006/relationships" id="260" r:id="R0db13d76cb814762"/>
    <p:sldId xmlns:r="http://schemas.openxmlformats.org/officeDocument/2006/relationships" id="261" r:id="R10df982e2b534614"/>
    <p:sldId xmlns:r="http://schemas.openxmlformats.org/officeDocument/2006/relationships" id="262" r:id="Rdd9d226e65fc4f40"/>
    <p:sldId xmlns:r="http://schemas.openxmlformats.org/officeDocument/2006/relationships" id="263" r:id="R6ccf32939a814ac3"/>
    <p:sldId xmlns:r="http://schemas.openxmlformats.org/officeDocument/2006/relationships" id="264" r:id="Ra484136d5a3148f3"/>
    <p:sldId xmlns:r="http://schemas.openxmlformats.org/officeDocument/2006/relationships" id="265" r:id="R97b00cc31d3f4694"/>
    <p:sldId xmlns:r="http://schemas.openxmlformats.org/officeDocument/2006/relationships" id="266" r:id="R9b90a13f2d5747b7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91851649c14b47ee"/>
      <p:italic xmlns:r="http://schemas.openxmlformats.org/officeDocument/2006/relationships" r:id="R60564517dac84779"/>
    </p:embeddedFont>
    <p:embeddedFont>
      <p:font typeface="Lora SemiBold"/>
      <p:regular xmlns:r="http://schemas.openxmlformats.org/officeDocument/2006/relationships" r:id="R1d1588682bb74d3a"/>
      <p:bold xmlns:r="http://schemas.openxmlformats.org/officeDocument/2006/relationships" r:id="R14003134db93440a"/>
      <p:italic xmlns:r="http://schemas.openxmlformats.org/officeDocument/2006/relationships" r:id="Rd5114e71400248be"/>
      <p:boldItalic xmlns:r="http://schemas.openxmlformats.org/officeDocument/2006/relationships" r:id="R6b8849caff274621"/>
    </p:embeddedFont>
    <p:embeddedFont>
      <p:font typeface="OpenAI Sans"/>
      <p:regular xmlns:r="http://schemas.openxmlformats.org/officeDocument/2006/relationships" r:id="R05680732bd66488e"/>
      <p:bold xmlns:r="http://schemas.openxmlformats.org/officeDocument/2006/relationships" r:id="Rf3bd36216a564668"/>
      <p:italic xmlns:r="http://schemas.openxmlformats.org/officeDocument/2006/relationships" r:id="R9680de2bc801419c"/>
      <p:boldItalic xmlns:r="http://schemas.openxmlformats.org/officeDocument/2006/relationships" r:id="Rae4cb34767584991"/>
    </p:embeddedFont>
    <p:embeddedFont>
      <p:font typeface="Roboto"/>
      <p:regular xmlns:r="http://schemas.openxmlformats.org/officeDocument/2006/relationships" r:id="R370dfcc2fa814b13"/>
      <p:bold xmlns:r="http://schemas.openxmlformats.org/officeDocument/2006/relationships" r:id="R23be099fcc734afc"/>
      <p:italic xmlns:r="http://schemas.openxmlformats.org/officeDocument/2006/relationships" r:id="R8383c6126eb54ba2"/>
      <p:boldItalic xmlns:r="http://schemas.openxmlformats.org/officeDocument/2006/relationships" r:id="Rd42436a2a4e24b12"/>
    </p:embeddedFont>
    <p:embeddedFont>
      <p:font typeface="Roboto Medium"/>
      <p:regular xmlns:r="http://schemas.openxmlformats.org/officeDocument/2006/relationships" r:id="R6221289c192f444a"/>
      <p:italic xmlns:r="http://schemas.openxmlformats.org/officeDocument/2006/relationships" r:id="R86f83ed8a4614cb6"/>
    </p:embeddedFont>
    <p:embeddedFont>
      <p:font typeface="Roboto SemiBold"/>
      <p:regular xmlns:r="http://schemas.openxmlformats.org/officeDocument/2006/relationships" r:id="Reb296c7df8414a15"/>
      <p:bold xmlns:r="http://schemas.openxmlformats.org/officeDocument/2006/relationships" r:id="R84df7b828db04b6e"/>
      <p:italic xmlns:r="http://schemas.openxmlformats.org/officeDocument/2006/relationships" r:id="R405d7adfd86344b8"/>
      <p:boldItalic xmlns:r="http://schemas.openxmlformats.org/officeDocument/2006/relationships" r:id="R353097791f384197"/>
    </p:embeddedFont>
    <p:embeddedFont>
      <p:font typeface="Roboto Serif 14pt"/>
      <p:regular xmlns:r="http://schemas.openxmlformats.org/officeDocument/2006/relationships" r:id="R7248f56e8ca34830"/>
      <p:bold xmlns:r="http://schemas.openxmlformats.org/officeDocument/2006/relationships" r:id="R583573996896460b"/>
      <p:italic xmlns:r="http://schemas.openxmlformats.org/officeDocument/2006/relationships" r:id="Rd56b8335a08e45b7"/>
      <p:boldItalic xmlns:r="http://schemas.openxmlformats.org/officeDocument/2006/relationships" r:id="R0b22539648a54c2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c5293c997b4124" /><Relationship Type="http://schemas.openxmlformats.org/officeDocument/2006/relationships/slideMaster" Target="/ppt/slideMasters/slideMaster1.xml" Id="R760ee6d28268426c" /><Relationship Type="http://schemas.openxmlformats.org/officeDocument/2006/relationships/notesMaster" Target="/ppt/notesMasters/notesMaster1.xml" Id="R57f91df04bbb45d8" /><Relationship Type="http://schemas.openxmlformats.org/officeDocument/2006/relationships/presProps" Target="/ppt/presProps.xml" Id="R7aa18003c50a4365" /><Relationship Type="http://schemas.openxmlformats.org/officeDocument/2006/relationships/viewProps" Target="/ppt/viewProps.xml" Id="R65c049ed0bee45a1" /><Relationship Type="http://schemas.openxmlformats.org/officeDocument/2006/relationships/tableStyles" Target="/ppt/tableStyles.xml" Id="R90584cc3541b40f3" /><Relationship Type="http://schemas.openxmlformats.org/officeDocument/2006/relationships/font" Target="/ppt/fonts/font.dat" Id="R91851649c14b47ee" /><Relationship Type="http://schemas.openxmlformats.org/officeDocument/2006/relationships/font" Target="/ppt/fonts/font2.dat" Id="R60564517dac84779" /><Relationship Type="http://schemas.openxmlformats.org/officeDocument/2006/relationships/font" Target="/ppt/fonts/font3.dat" Id="R1d1588682bb74d3a" /><Relationship Type="http://schemas.openxmlformats.org/officeDocument/2006/relationships/font" Target="/ppt/fonts/font4.dat" Id="R14003134db93440a" /><Relationship Type="http://schemas.openxmlformats.org/officeDocument/2006/relationships/font" Target="/ppt/fonts/font5.dat" Id="Rd5114e71400248be" /><Relationship Type="http://schemas.openxmlformats.org/officeDocument/2006/relationships/font" Target="/ppt/fonts/font6.dat" Id="R6b8849caff274621" /><Relationship Type="http://schemas.openxmlformats.org/officeDocument/2006/relationships/font" Target="/ppt/fonts/font7.dat" Id="R05680732bd66488e" /><Relationship Type="http://schemas.openxmlformats.org/officeDocument/2006/relationships/font" Target="/ppt/fonts/font8.dat" Id="Rf3bd36216a564668" /><Relationship Type="http://schemas.openxmlformats.org/officeDocument/2006/relationships/font" Target="/ppt/fonts/font9.dat" Id="R9680de2bc801419c" /><Relationship Type="http://schemas.openxmlformats.org/officeDocument/2006/relationships/font" Target="/ppt/fonts/font10.dat" Id="Rae4cb34767584991" /><Relationship Type="http://schemas.openxmlformats.org/officeDocument/2006/relationships/font" Target="/ppt/fonts/font11.dat" Id="R370dfcc2fa814b13" /><Relationship Type="http://schemas.openxmlformats.org/officeDocument/2006/relationships/font" Target="/ppt/fonts/font12.dat" Id="R23be099fcc734afc" /><Relationship Type="http://schemas.openxmlformats.org/officeDocument/2006/relationships/font" Target="/ppt/fonts/font13.dat" Id="R8383c6126eb54ba2" /><Relationship Type="http://schemas.openxmlformats.org/officeDocument/2006/relationships/font" Target="/ppt/fonts/font14.dat" Id="Rd42436a2a4e24b12" /><Relationship Type="http://schemas.openxmlformats.org/officeDocument/2006/relationships/font" Target="/ppt/fonts/font15.dat" Id="R6221289c192f444a" /><Relationship Type="http://schemas.openxmlformats.org/officeDocument/2006/relationships/font" Target="/ppt/fonts/font16.dat" Id="R86f83ed8a4614cb6" /><Relationship Type="http://schemas.openxmlformats.org/officeDocument/2006/relationships/font" Target="/ppt/fonts/font17.dat" Id="Reb296c7df8414a15" /><Relationship Type="http://schemas.openxmlformats.org/officeDocument/2006/relationships/font" Target="/ppt/fonts/font18.dat" Id="R84df7b828db04b6e" /><Relationship Type="http://schemas.openxmlformats.org/officeDocument/2006/relationships/font" Target="/ppt/fonts/font19.dat" Id="R405d7adfd86344b8" /><Relationship Type="http://schemas.openxmlformats.org/officeDocument/2006/relationships/font" Target="/ppt/fonts/font20.dat" Id="R353097791f384197" /><Relationship Type="http://schemas.openxmlformats.org/officeDocument/2006/relationships/font" Target="/ppt/fonts/font21.dat" Id="R7248f56e8ca34830" /><Relationship Type="http://schemas.openxmlformats.org/officeDocument/2006/relationships/font" Target="/ppt/fonts/font22.dat" Id="R583573996896460b" /><Relationship Type="http://schemas.openxmlformats.org/officeDocument/2006/relationships/font" Target="/ppt/fonts/font23.dat" Id="Rd56b8335a08e45b7" /><Relationship Type="http://schemas.openxmlformats.org/officeDocument/2006/relationships/font" Target="/ppt/fonts/font24.dat" Id="R0b22539648a54c27" /><Relationship Type="http://schemas.openxmlformats.org/officeDocument/2006/relationships/slide" Target="/ppt/slides/slide1.xml" Id="Re047694e1665491f" /><Relationship Type="http://schemas.openxmlformats.org/officeDocument/2006/relationships/slide" Target="/ppt/slides/slide2.xml" Id="Rd402d80bdba0495e" /><Relationship Type="http://schemas.openxmlformats.org/officeDocument/2006/relationships/slide" Target="/ppt/slides/slide3.xml" Id="Rfc2e249274884420" /><Relationship Type="http://schemas.openxmlformats.org/officeDocument/2006/relationships/slide" Target="/ppt/slides/slide4.xml" Id="R15d9a5b930b44d51" /><Relationship Type="http://schemas.openxmlformats.org/officeDocument/2006/relationships/slide" Target="/ppt/slides/slide5.xml" Id="R0db13d76cb814762" /><Relationship Type="http://schemas.openxmlformats.org/officeDocument/2006/relationships/slide" Target="/ppt/slides/slide6.xml" Id="R10df982e2b534614" /><Relationship Type="http://schemas.openxmlformats.org/officeDocument/2006/relationships/slide" Target="/ppt/slides/slide7.xml" Id="Rdd9d226e65fc4f40" /><Relationship Type="http://schemas.openxmlformats.org/officeDocument/2006/relationships/slide" Target="/ppt/slides/slide8.xml" Id="R6ccf32939a814ac3" /><Relationship Type="http://schemas.openxmlformats.org/officeDocument/2006/relationships/slide" Target="/ppt/slides/slide9.xml" Id="Ra484136d5a3148f3" /><Relationship Type="http://schemas.openxmlformats.org/officeDocument/2006/relationships/slide" Target="/ppt/slides/slide10.xml" Id="R97b00cc31d3f4694" /><Relationship Type="http://schemas.openxmlformats.org/officeDocument/2006/relationships/slide" Target="/ppt/slides/slide11.xml" Id="R9b90a13f2d5747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9c6490ba5d40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2edc0e3d4b404d" /><Relationship Type="http://schemas.openxmlformats.org/officeDocument/2006/relationships/notesMaster" Target="/ppt/notesMasters/notesMaster1.xml" Id="Raf00289fb96543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440afba1ec4572" /><Relationship Type="http://schemas.openxmlformats.org/officeDocument/2006/relationships/notesMaster" Target="/ppt/notesMasters/notesMaster1.xml" Id="R8906478ee06046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c78b0d0f33484c" /><Relationship Type="http://schemas.openxmlformats.org/officeDocument/2006/relationships/notesMaster" Target="/ppt/notesMasters/notesMaster1.xml" Id="R6cfac9817c0943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1ac830fcfc4f64" /><Relationship Type="http://schemas.openxmlformats.org/officeDocument/2006/relationships/notesMaster" Target="/ppt/notesMasters/notesMaster1.xml" Id="Rca9968fda0ea41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4bb23282e44043" /><Relationship Type="http://schemas.openxmlformats.org/officeDocument/2006/relationships/notesMaster" Target="/ppt/notesMasters/notesMaster1.xml" Id="R17982cc206d645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c6bcf224084c2a" /><Relationship Type="http://schemas.openxmlformats.org/officeDocument/2006/relationships/notesMaster" Target="/ppt/notesMasters/notesMaster1.xml" Id="Rb2ee0f72fad642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72be3c6f774fb7" /><Relationship Type="http://schemas.openxmlformats.org/officeDocument/2006/relationships/notesMaster" Target="/ppt/notesMasters/notesMaster1.xml" Id="R2537107e740445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a0a01093fa4a89" /><Relationship Type="http://schemas.openxmlformats.org/officeDocument/2006/relationships/notesMaster" Target="/ppt/notesMasters/notesMaster1.xml" Id="R4106fbe5d0b749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192210f73d4de7" /><Relationship Type="http://schemas.openxmlformats.org/officeDocument/2006/relationships/notesMaster" Target="/ppt/notesMasters/notesMaster1.xml" Id="R3108d3157dd74d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5177ac5ea54dde" /><Relationship Type="http://schemas.openxmlformats.org/officeDocument/2006/relationships/notesMaster" Target="/ppt/notesMasters/notesMaster1.xml" Id="R896039fd60864e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a1f72ec93642b7" /><Relationship Type="http://schemas.openxmlformats.org/officeDocument/2006/relationships/notesMaster" Target="/ppt/notesMasters/notesMaster1.xml" Id="R765110464da64f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release: https://github.com/DarrenWongKaWa/future-b/releases/tag/diagram-compiler-package-v0.2.0. This is an experimental bounded compiler distribution, separate from Future B v1.2.0.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sources: https://github.com/DarrenWongKaWa/future-b/pull/1 ; release https://github.com/DarrenWongKaWa/future-b/releases/tag/diagram-compiler-package-v0.2.0 ; tag CI https://github.com/DarrenWongKaWa/future-b/actions/runs/35968422250. GitHub main and package tag both peel to 8279797c845b20b34527f797b664e886b8fad939. v1.2.0 remains cbc951c0867126d26fdeb481e16b30ab647431aa.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1 scope: fixed-order scalar Holstein and Hermitian two-band families. This formula is a compact schematic of the documented diagram contribution, not a new material Hamiltonian.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1 DiagramIR → Task 2 cheap policy → Task 3 delayed acceptance → Task 4 NativeKernelIR → Task 5 Fortran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policy: exact F only if finite, real, positive. |F|, complex modulus, and F^2 are refused. The tests include mutations that remove Stage 2 or invert Hastings.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source: research/diagram_compiler/task1/graph_stats.csv; task2/graph_costs.csv. The graph statistics document says counts only, not speedup.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6 uses a separate validation executable. FEP-DMC pin 05d08449 remains PUBLIC_PRISTINE. No production update_swap or P1 replacement.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 URL: https://github.com/DarrenWongKaWa/future-b/releases/tag/diagram-compiler-package-v0.2.0. The wheel includes Python compiler and versioned Fortran runtime. The sdist includes the exact oracle, tests and evidence. SOURCE_MANIFEST.json records 184 file hashes at commit 8279797.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Install guide: https://github.com/DarrenWongKaWa/future-b/blob/main/docs/DIAGRAM_COMPILER_PACKAGE.md. The two skipped sdist tests require an external pinned FEP-DMC checkout and configured Docker image; CI supplies both and passes. No PyPI publication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External background: Perturbo documentation describes QE/DFPT, Wannier, and e-ph inputs. This slide is a proposed integration boundary, not a statement that the compiler has completed a real-material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framing: installable experimental methods package. Scientific claims remain bounded: no generic QFT compilation, production replacement, real-material result, or performance gain. Release: https://github.com/DarrenWongKaWa/future-b/releases/tag/diagram-compiler-package-v0.2.0.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f1a891172042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56b52969242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3f9d4b03143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819262b804d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ef381fa4c4f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71f4f053041a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9c769d62746c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08dbbfaba409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1665ec73f94f86" /><Relationship Type="http://schemas.openxmlformats.org/officeDocument/2006/relationships/slideLayout" Target="/ppt/slideLayouts/slideLayout1.xml" Id="R43134799ccaa425b" /><Relationship Type="http://schemas.openxmlformats.org/officeDocument/2006/relationships/slideLayout" Target="/ppt/slideLayouts/slideLayout2.xml" Id="R265a651b230c4f4b" /><Relationship Type="http://schemas.openxmlformats.org/officeDocument/2006/relationships/slideLayout" Target="/ppt/slideLayouts/slideLayout3.xml" Id="Rd0651a0c8e214b99" /><Relationship Type="http://schemas.openxmlformats.org/officeDocument/2006/relationships/slideLayout" Target="/ppt/slideLayouts/slideLayout4.xml" Id="Rd9aefc99cf5a4dbd" /><Relationship Type="http://schemas.openxmlformats.org/officeDocument/2006/relationships/slideLayout" Target="/ppt/slideLayouts/slideLayout5.xml" Id="Rf63b9d7137f84904" /><Relationship Type="http://schemas.openxmlformats.org/officeDocument/2006/relationships/slideLayout" Target="/ppt/slideLayouts/slideLayout6.xml" Id="Rc54ad1d123d742c8" /><Relationship Type="http://schemas.openxmlformats.org/officeDocument/2006/relationships/slideLayout" Target="/ppt/slideLayouts/slideLayout7.xml" Id="Rfddfd5e90bce4597" /><Relationship Type="http://schemas.openxmlformats.org/officeDocument/2006/relationships/slideLayout" Target="/ppt/slideLayouts/slideLayout8.xml" Id="R9069c802cd22427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134799ccaa425b"/>
    <p:sldLayoutId xmlns:r="http://schemas.openxmlformats.org/officeDocument/2006/relationships" id="2147483650" r:id="R265a651b230c4f4b"/>
    <p:sldLayoutId xmlns:r="http://schemas.openxmlformats.org/officeDocument/2006/relationships" id="2147483651" r:id="Rd0651a0c8e214b99"/>
    <p:sldLayoutId xmlns:r="http://schemas.openxmlformats.org/officeDocument/2006/relationships" id="2147483652" r:id="Rd9aefc99cf5a4dbd"/>
    <p:sldLayoutId xmlns:r="http://schemas.openxmlformats.org/officeDocument/2006/relationships" id="2147483653" r:id="Rf63b9d7137f84904"/>
    <p:sldLayoutId xmlns:r="http://schemas.openxmlformats.org/officeDocument/2006/relationships" id="2147483654" r:id="Rc54ad1d123d742c8"/>
    <p:sldLayoutId xmlns:r="http://schemas.openxmlformats.org/officeDocument/2006/relationships" id="2147483655" r:id="Rfddfd5e90bce4597"/>
    <p:sldLayoutId xmlns:r="http://schemas.openxmlformats.org/officeDocument/2006/relationships" id="2147483656" r:id="R9069c802cd224272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c9c980f7444c6" /><Relationship Type="http://schemas.openxmlformats.org/officeDocument/2006/relationships/notesSlide" Target="/ppt/notesSlides/notesSlide1.xml" Id="Ra35f6566a6434b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7a782262b14736" /><Relationship Type="http://schemas.openxmlformats.org/officeDocument/2006/relationships/notesSlide" Target="/ppt/notesSlides/notesSlide2.xml" Id="R5b3f49c2e12246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16d78108d94314" /><Relationship Type="http://schemas.openxmlformats.org/officeDocument/2006/relationships/notesSlide" Target="/ppt/notesSlides/notesSlide3.xml" Id="Ra6f0a193ebf842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8e079c5d445bf" /><Relationship Type="http://schemas.openxmlformats.org/officeDocument/2006/relationships/notesSlide" Target="/ppt/notesSlides/notesSlide4.xml" Id="Rb74a5e2f8dc847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28e4c4659b84c29" /><Relationship Type="http://schemas.openxmlformats.org/officeDocument/2006/relationships/notesSlide" Target="/ppt/notesSlides/notesSlide5.xml" Id="R22788690c93040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63b06b0fd649f7" /><Relationship Type="http://schemas.openxmlformats.org/officeDocument/2006/relationships/chart" Target="/ppt/slides/charts/chart1.xml" Id="Rd30131c941784e74" /><Relationship Type="http://schemas.openxmlformats.org/officeDocument/2006/relationships/notesSlide" Target="/ppt/notesSlides/notesSlide6.xml" Id="R844e852df67148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b6a7194b10442a" /><Relationship Type="http://schemas.openxmlformats.org/officeDocument/2006/relationships/notesSlide" Target="/ppt/notesSlides/notesSlide7.xml" Id="R54c25399e8fe47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c6a1b97174db7" /><Relationship Type="http://schemas.openxmlformats.org/officeDocument/2006/relationships/notesSlide" Target="/ppt/notesSlides/notesSlide8.xml" Id="R129a13f6525846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370cbb8864caa" /><Relationship Type="http://schemas.openxmlformats.org/officeDocument/2006/relationships/notesSlide" Target="/ppt/notesSlides/notesSlide9.xml" Id="Ra6efe9cbded74e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2031963384668" /><Relationship Type="http://schemas.openxmlformats.org/officeDocument/2006/relationships/notesSlide" Target="/ppt/notesSlides/notesSlide10.xml" Id="Rde47feccde9d42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36d48623974488" /><Relationship Type="http://schemas.openxmlformats.org/officeDocument/2006/relationships/notesSlide" Target="/ppt/notesSlides/notesSlide11.xml" Id="R940cae46bd26462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naive nodes</c:v>
          </c:tx>
          <c:spPr>
            <a:solidFill xmlns:a="http://schemas.openxmlformats.org/drawingml/2006/main">
              <a:srgbClr val="D78318"/>
            </a:solidFill>
          </c:spPr>
          <c:cat>
            <c:strRef>
              <c:f>'Chart Data'!$A$2:$A$5</c:f>
              <c:strCache>
                <c:ptCount val="4"/>
                <c:pt idx="0">
                  <c:v>n=1</c:v>
                </c:pt>
                <c:pt idx="1">
                  <c:v>n=2</c:v>
                </c:pt>
                <c:pt idx="2">
                  <c:v>n=3</c:v>
                </c:pt>
                <c:pt idx="3">
                  <c:v>n=4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</c:v>
                </c:pt>
                <c:pt idx="1">
                  <c:v>35</c:v>
                </c:pt>
                <c:pt idx="2">
                  <c:v>257</c:v>
                </c:pt>
                <c:pt idx="3">
                  <c:v>2417</c:v>
                </c:pt>
              </c:numCache>
            </c:numRef>
          </c:val>
        </c:ser>
        <c:ser>
          <c:idx val="1"/>
          <c:order val="1"/>
          <c:tx>
            <c:v>shared DAG nodes</c:v>
          </c:tx>
          <c:spPr>
            <a:solidFill xmlns:a="http://schemas.openxmlformats.org/drawingml/2006/main">
              <a:srgbClr val="335BC3"/>
            </a:solidFill>
          </c:spPr>
          <c:cat>
            <c:strRef>
              <c:f>'Chart Data'!$C$2:$C$5</c:f>
              <c:strCache>
                <c:ptCount val="4"/>
                <c:pt idx="0">
                  <c:v>n=1</c:v>
                </c:pt>
                <c:pt idx="1">
                  <c:v>n=2</c:v>
                </c:pt>
                <c:pt idx="2">
                  <c:v>n=3</c:v>
                </c:pt>
                <c:pt idx="3">
                  <c:v>n=4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7</c:v>
                </c:pt>
                <c:pt idx="1">
                  <c:v>28</c:v>
                </c:pt>
                <c:pt idx="2">
                  <c:v>124</c:v>
                </c:pt>
                <c:pt idx="3">
                  <c:v>803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Scalar fixed order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Graph nodes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anchor="b">
            <a:normAutofit fontScale="100000"/>
          </a:bodyPr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pPr>
              <a:defRPr sz="35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35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Diagram Compiler 0.2.0</a:t>
            </a:r>
          </a:p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defRPr sz="1725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725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可安装的科研软件包</a:t>
            </a:r>
          </a:p>
          <a:p xmlns:a="http://schemas.openxmlformats.org/drawingml/2006/main">
            <a:pPr>
              <a:defRPr sz="1725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725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固定阶图表示、精确校正与原生内核验证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53009-0D04-48C2-A945-7F4F0435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GitHub prerelease · 2026-09-24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BBDF2-6F45-408B-9CFD-2645B024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Experimental research preview · Python 3.11+ · GPL-3.0-or-later</a:t>
            </a:r>
          </a:p>
        </p:txBody>
      </p:sp>
    </p:spTree>
    <p:extLst>
      <p:ext uri="{BB962C8B-B14F-4D97-AF65-F5344CB8AC3E}">
        <p14:creationId xmlns:p14="http://schemas.microsoft.com/office/powerpoint/2010/main" val="1696172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0.2.0 已进入公开 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3C5FA-14CF-4452-9CD1-0614AA2A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发布身份与源码来源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36638-18E9-47D0-8835-1D144AD2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6212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32FE8-3695-4496-AEE3-32F06F20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95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4DA84-F206-47BA-8380-B9EC4A2A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240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Future B v1.2.0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6B039-CEC2-465A-A1FC-DD031182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95550"/>
            <a:ext cx="2171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稳定 tag cbc951c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既有 C0 / P1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科学结论冻结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67ACD-721D-432B-98E8-8E4469BF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211E7-7F64-4CBC-8FD4-F46792A6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95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AD11F-11FF-4AC9-8D45-9E758739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240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PR #1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A6660-1DE8-45B6-86D0-815B5A91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95550"/>
            <a:ext cx="2171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选择性移植源码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并入公开 main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commit 8279797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E835C-8B8D-4D4D-B057-4957C6F9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6212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0FA28-5102-4DA6-90E7-FC831B9A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895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BF860-E4A8-464F-ACFA-D30E4452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0.2.0 prerelease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53E52-334A-4A1E-B769-24C6E1A7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2171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wheel + sdist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SHA256SUMS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4 页 draw.io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FA78F-D7AD-464C-889C-4EE7466A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62125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11906">
            <a:solidFill>
              <a:srgbClr val="2B8A5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6A5C5-646D-4484-BE37-E28A0C91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95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927E3-376F-4AA3-8703-3135E560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24075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CI verified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C89B8-D525-41A8-B85F-653A6EE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95550"/>
            <a:ext cx="1885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tag run 35968422250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compiler/native/package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completed: success</a:t>
            </a:r>
          </a:p>
        </p:txBody>
      </p: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05125" y="26670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BA1"/>
            </a:solidFill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10250" y="26670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15375" y="26670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8A59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5EDB2-C4B7-4C34-8843-64E32416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包与仓库 main 指向同一提交 8279797；v1.2.0 tag 仍指向 cbc951c。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AC470-642C-419F-BB7E-66A96A86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原 0.1.0 preview 的独立历史保留，0.2.0 的源码关系已通过 PR #1 接到公开主线。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19069-D89F-421C-A58F-C47BCCC4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GitHub PR #1, tag diagram-compiler-package-v0.2.0, runs 35968144875 and 35968422250</a:t>
            </a:r>
          </a:p>
        </p:txBody>
      </p:sp>
    </p:spTree>
    <p:extLst>
      <p:ext uri="{BB962C8B-B14F-4D97-AF65-F5344CB8AC3E}">
        <p14:creationId xmlns:p14="http://schemas.microsoft.com/office/powerpoint/2010/main" val="366086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它解决哪一段计算问题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824F1-2B55-4B2C-8D96-70A43007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固定阶电子—声子图的结构化求和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4CA16-A2E7-48C7-983F-7D5CC368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3F9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3F96"/>
                </a:solidFill>
                <a:latin typeface="Arial"/>
                <a:ea typeface="Arial"/>
                <a:cs typeface="Arial"/>
              </a:rPr>
              <a:t>Fₙ(x) = (g/√L)²ⁿ · Σ pairing C · Π electron G · Π phonon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49BFB-EC2F-44CD-B635-6C9B9792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1657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1657F"/>
                </a:solidFill>
                <a:latin typeface="Arial"/>
                <a:ea typeface="Arial"/>
                <a:cs typeface="Arial"/>
              </a:rPr>
              <a:t>ξₖ = 2t(1 − cos k)    G(p,Δτ) = exp(−ξₚΔτ)    D(Δτ) = exp(−ωΔτ)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117E7-238D-4654-8798-F7E88EFE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75DA5-8A97-49D5-A202-86AA1271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052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Hamiltonian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618CF-E244-43DF-A610-F811AD49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76675"/>
            <a:ext cx="1885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色散、声子、耦合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定义物理对象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BD4B7-297F-439D-87EE-5CAC21BF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43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4B5CF-F491-45E1-8CF3-CC76C58C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5052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Pairing diagrams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72976-7C87-4DB4-B14B-7695187E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876675"/>
            <a:ext cx="1885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不同拓扑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共享叶节点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C4631-9450-4376-B38A-9501001B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D783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69E0C-B537-4C81-A59C-489DB6D3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5052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DDF6D-02E2-45C1-AAC9-B86884E8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76675"/>
            <a:ext cx="1885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标量或矩阵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保持乘法顺序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1D352-DEFD-48FF-B5A3-CD2EDFA8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432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2DE96-1851-400D-948C-6CC3078C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505200"/>
            <a:ext cx="1076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9A0CD-2C07-4BC1-B67D-F0320560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876675"/>
            <a:ext cx="10763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F or Op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09875" y="3857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53125" y="3857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096375" y="3857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06FE9-93DD-4C6F-A8C6-88A521E5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软件把图的物理语义变成可序列化对象，再从同一对象生成求值与原生执行路径。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D8928-6A8D-46E2-A772-17DF1B1E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Task 1 documentation and R1 fixed-order contract</a:t>
            </a:r>
          </a:p>
        </p:txBody>
      </p:sp>
    </p:spTree>
    <p:extLst>
      <p:ext uri="{BB962C8B-B14F-4D97-AF65-F5344CB8AC3E}">
        <p14:creationId xmlns:p14="http://schemas.microsoft.com/office/powerpoint/2010/main" val="88654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方法流程：同一份 DiagramIR 驱动整个编译链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7C7D1-3A12-4FFD-ACA5-1D5C6E3B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从语义对象到原生可执行文件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87CE4-D2B4-4A6D-BCD6-23CD2A2B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F2B5A-8E9C-45C9-93E4-9E1301BD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669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21C17-E0A7-4205-A452-35E66DA2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95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DiagramIR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58863-F8E9-4842-9EB1-8FB1AD37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67050"/>
            <a:ext cx="1504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family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pairing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factors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7455C-4EE9-4698-A800-F8891FA1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4B173-577D-46FC-B9A1-3EF4FD7B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669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FFB0F-9125-420D-96C5-6E1D6D6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95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9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Exact / Cheap DAG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D95F8-33AC-4D43-9FFE-96CAE2FA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1504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ordered CSE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policy-defined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state weight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A67AF-994A-4F17-9D4A-FA75CBB5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11906">
            <a:solidFill>
              <a:srgbClr val="D783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44813-FE3C-42AB-9850-91EAF29A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4669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E62A8-64EB-4723-BF01-627C8059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95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Design B 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25263-4E82-477D-8D76-890D2CAA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67050"/>
            <a:ext cx="1504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Stage 1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Stage 2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Hastings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8DF9F-1DB7-446C-AC78-F47242E5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11906">
            <a:solidFill>
              <a:srgbClr val="BA4A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2C094-D99E-4A10-9D41-6B42BDC2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669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D9BA7-7DCA-419B-AAF9-8CF4A515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95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NativeKernelIR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A6E4A-EB94-4C05-B8C9-BFA8878B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67050"/>
            <a:ext cx="1504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typed SSA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CFG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E9D3D-E140-4D47-9560-23ABE8DF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64AD9-9592-41ED-90BD-59C40DE8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4669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BC553-6F19-46B4-9291-4E834B22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695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Fortran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D58EB-A8BF-435D-945B-39D47DCD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067050"/>
            <a:ext cx="1504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deterministic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ABI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cxnSp>
        <p:nvCxnSpPr>
          <p:cNvPr id="51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BA1"/>
            </a:solidFill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72000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BA1"/>
            </a:solidFill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1037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BA1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048750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BA1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E4DB3-3051-4F05-9B86-5BD0A0A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核心方法：Exact 与 Cheap 从同一 IR 生成。近似策略、目标策略和原生状态码都被显式记录。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0CB5E-5993-4C57-B829-BA2EA27A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Task 1–5 architecture and JSON evidence artifacts</a:t>
            </a:r>
          </a:p>
        </p:txBody>
      </p:sp>
    </p:spTree>
    <p:extLst>
      <p:ext uri="{BB962C8B-B14F-4D97-AF65-F5344CB8AC3E}">
        <p14:creationId xmlns:p14="http://schemas.microsoft.com/office/powerpoint/2010/main" val="28114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精确保持的延迟接受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75C74-3E6D-443E-9064-EDDF9C07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Design B on positive_real_F_v1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FB5A5-DF7E-422B-8B54-E5767321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11906">
            <a:solidFill>
              <a:srgbClr val="D7831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800C8-6FFA-45DF-A45D-EC00E8A0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86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E493E-8A1C-4AF4-90FB-91397D21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147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Cheap(x,y)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6001B-B4E4-48FE-9D61-4783C0A5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8617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log Ŵ(y) − log Ŵ(x)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8C461-9BA9-4BDE-8CC3-33AA17F2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52750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E6FE1-1499-41CD-802E-E300F344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86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7B881-FE8B-45D7-B936-C9E7A124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147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Stage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DE326-02E9-49AD-827C-B7BA130C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8617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cheap acceptance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pass or reject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65BEB-9E84-4AB1-84F9-5808E561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66875"/>
            <a:ext cx="2047875" cy="1285875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11906">
            <a:solidFill>
              <a:srgbClr val="BA4A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19481-72BD-4382-81C0-99BA68C9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002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rPr>
              <a:t>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CD90E-6DEB-4999-A79A-83BF32CD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28825"/>
            <a:ext cx="1743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Early reject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2F34A-4FAB-45B0-B9D1-BB8D1288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4003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exact graph calls =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72C64-A81D-46AF-8FC0-E3375F0E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91000"/>
            <a:ext cx="2047875" cy="1285875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4C820-EABF-47B1-BE09-6FFD2CB6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3243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1244B-2B32-488E-8A7D-C0C38BD9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552950"/>
            <a:ext cx="1743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Exact(x,y)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64B17-29CD-458D-8514-F19DB09A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924425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log π(y) − log π(x)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B0C5E-D11E-4C48-8B6F-ECFDB039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11906">
            <a:solidFill>
              <a:srgbClr val="2B8A5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F3457-FEBD-4064-8CC0-A0F2794C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243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E2B6E-642D-4D79-AF96-D2BABFF4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52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Stage 2 correction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445E6-4877-4F03-89CB-F017063C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2442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ell_R − ell_hat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accept/reject</a:t>
            </a:r>
          </a:p>
        </p:txBody>
      </p: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71750" y="364331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5238750" y="2309813"/>
            <a:ext cx="714375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A4A63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7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38750" y="3643313"/>
            <a:ext cx="714375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9D9C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001000" y="483393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8A59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818ADD-9DAB-43CE-891E-0E489B6D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F9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F96"/>
                </a:solidFill>
                <a:latin typeface="Arial"/>
                <a:ea typeface="Arial"/>
                <a:cs typeface="Arial"/>
              </a:rPr>
              <a:t>ell_R = log π(y) − log π(x) + log q(y,x) − log q(x,y)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8D14F8-7C29-4032-838E-5C216F83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960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有限状态测试：symmetric balance 1.39×10⁻¹⁷；asymmetric stationarity 2.78×10⁻¹⁷。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CC472C-2AB7-4B4F-A249-ED92F24F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Task 3 finite_state_balance.csv and mutation tests</a:t>
            </a:r>
          </a:p>
        </p:txBody>
      </p:sp>
    </p:spTree>
    <p:extLst>
      <p:ext uri="{BB962C8B-B14F-4D97-AF65-F5344CB8AC3E}">
        <p14:creationId xmlns:p14="http://schemas.microsoft.com/office/powerpoint/2010/main" val="20692966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数据：结构复用与廉价路径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40097-DC50-4ABB-8082-5E78E237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节点数和昂贵 primitive 数量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6096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0131c941784e7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3F46B-7001-406B-8DBE-8386AABC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66875"/>
            <a:ext cx="3619500" cy="1285875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61E3B-16B0-4B07-B51A-B027083E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2882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Two-band n=3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E1A04-DB8B-4F5E-BE2D-EC18810C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00300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Exact expensive primitives: 110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Cheap expensive primitives: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03BC5-83A8-4581-946D-85FE63D5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3619500" cy="1285875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946E7-A34A-49CB-8402-BA51694C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957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4DEC6-7F43-4A68-B307-F057C780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67175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共享 DAG 降低重复计算。Cheap policy 移除矩阵 primitive。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ABEBC-6DDC-433D-95DA-9C437454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3619500" cy="1285875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11906">
            <a:solidFill>
              <a:srgbClr val="BA4A6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3390D-A3EA-4782-8AD4-729CB771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197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Claim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3C165-B15A-40F0-911C-74C8E469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91175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节点数和 primitive 数不是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wall-clock speedup。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3C428-744E-46FC-918D-22E9A595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Task 1 graph_stats.csv; Task 2 graph_costs.csv</a:t>
            </a:r>
          </a:p>
        </p:txBody>
      </p:sp>
    </p:spTree>
    <p:extLst>
      <p:ext uri="{BB962C8B-B14F-4D97-AF65-F5344CB8AC3E}">
        <p14:creationId xmlns:p14="http://schemas.microsoft.com/office/powerpoint/2010/main" val="474705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原生验证：从 IR 到编译器 oracle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2602B-A9B0-442A-9CD5-2389AFB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Task 5–6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1E210-9890-4D8D-84E3-B5A7D762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4F0E0-5347-44FC-8A5E-C3B78B9C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7C0F6-C39E-427B-85C1-C36BA121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NativeKernelIR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B0973-62D7-4B0F-B93D-C4D8B939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76550"/>
            <a:ext cx="1647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typed SSA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CFG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BindingLayout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81FE0-D2A9-4B79-901F-7CF99239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A2060-BC2D-4448-98F8-163CDFBF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021AC-387F-4931-9DB2-389A670B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05075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2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Generated Fortran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DE66E-D28A-48F8-ACCB-5CC77134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1647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deterministic source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SHA ff4aa2de…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0576E-F8F7-445E-B391-07282D2B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431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D783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D8DFB-3381-4F6C-862C-7415358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A4175-6146-46ED-8F58-61A10B29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05075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Ubuntu 22.04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4D2B9-82E5-48DD-A769-64E883F7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76550"/>
            <a:ext cx="1647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gfortran 11.4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Docker rebuild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078A7-FAE4-42BF-A761-10FBC68B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2B8A5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0CA55-04EF-427C-9497-5517878F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B6F31-07F0-443F-B66B-7AECE6E7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05075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Oracle 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CAE5C-EF9A-4C41-B853-DCD98594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76550"/>
            <a:ext cx="1647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10 fixtures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all discrete matches</a:t>
            </a:r>
          </a:p>
        </p:txBody>
      </p:sp>
      <p:cxnSp>
        <p:nvCxnSpPr>
          <p:cNvPr id="49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71750" y="2857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286375" y="2857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01000" y="2857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817ADC-A880-4BA4-941C-24A2A790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224/224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3AD54A-7C0B-41F0-B141-3D387F11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exact differential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836E8-16BC-47DF-A9FF-F965EB7A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553F2A-8129-4000-B13E-4A3F9942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Stage-1 exact graph calls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ED8FAC-9717-40E0-81BD-89C1389D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6.66×10⁻¹⁶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4E2D1-DDA3-44DC-BEED-787F00E5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maximum primitive error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782C1D-DFA7-4E5D-B925-74034D7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LEVEL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BF8214-82F4-46D6-92E4-FFA6798D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14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pinned FEP-DMC toolchain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95E94D-F90E-4FB7-BF9B-67527F12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Task 5 primitive_differential.csv; Task 6 native_differential.csv and integration_provenance.json</a:t>
            </a:r>
          </a:p>
        </p:txBody>
      </p:sp>
    </p:spTree>
    <p:extLst>
      <p:ext uri="{BB962C8B-B14F-4D97-AF65-F5344CB8AC3E}">
        <p14:creationId xmlns:p14="http://schemas.microsoft.com/office/powerpoint/2010/main" val="635558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0.2.0 下载资产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8A9E7-B174-4860-B685-96CCCC53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面向科研用户的独立交付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DD0F4-B1AC-4898-9CE3-987744CE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FE53D-F3BF-4633-8CAD-65CE3502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907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76A97-304C-4DD0-8F7E-367862C0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193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EF2CF-EF01-49BD-844A-63A55EC6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908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Python 3.11+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可安装 API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Fortran 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C92B1-4876-48BB-9329-67A51D9F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57375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D5BAE-E500-42BB-8F79-8B5F6489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907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ED27F-BA07-4A6D-A0E4-E3AA82B8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193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Sdist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6E14F-0615-475A-BC23-42C7C318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908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75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完整源码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测试与 Task 1–7 证据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Docker 配方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0DD19-75B6-4101-BE44-46AADF26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57375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11906">
            <a:solidFill>
              <a:srgbClr val="D783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4C0EC-2810-4636-A305-FA11453B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9907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0D82E-F0E4-44BF-8540-07E5D06B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193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Manifest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80D5F-0C88-4BC4-9978-4D0C269A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908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184 个文件 SHA256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source ref 8279797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来源可核对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9AA28-F164-40DF-8AE1-4A149E52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57375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A35CC-CDD8-413D-A697-B96BF100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9907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34C3E-A3D4-41EF-B115-5304B169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193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Draw.io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7B531-4DB4-46C7-B4DF-18D8D719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5908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4 页可编辑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编译链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材料接入边界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67705-906E-4A68-BBC0-1853BF3D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57375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11906">
            <a:solidFill>
              <a:srgbClr val="2B8A5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79702-F573-4E25-BFB6-7C31706B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9907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77EBB-539D-478C-9421-C9C26666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193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Checksums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FE093-2943-457E-981F-7B547CC5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5908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下载后校验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资产完整性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SHA256SUMS</a:t>
            </a:r>
          </a:p>
        </p:txBody>
      </p: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2619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24375" y="2619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715125" y="2619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905875" y="2619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40B6CA-62E7-4B31-BE82-7D76E304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发布身份：future-b-diagram-compiler 0.2.0，实验科研包。使用独立 Python 环境安装。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D7D221-F9B6-4756-956B-9AEEDFF9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GitHub Release 提供 wheel、sdist、SOURCE_MANIFEST.json、draw.io 与 SHA256SUMS.txt。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FA4F8C-8F92-456F-9DC7-BE9D5D97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GitHub release diagram-compiler-package-v0.2.0; distribution/diagram_compiler/README.md</a:t>
            </a:r>
          </a:p>
        </p:txBody>
      </p:sp>
    </p:spTree>
    <p:extLst>
      <p:ext uri="{BB962C8B-B14F-4D97-AF65-F5344CB8AC3E}">
        <p14:creationId xmlns:p14="http://schemas.microsoft.com/office/powerpoint/2010/main" val="15359927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科研用户的安装与复现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822AA-C261-4C03-977E-27EF19B8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从 GitHub Release 到可审查结果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70930-9BDB-46C9-B3A1-6CB55926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2286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66103-7D9A-4085-BF19-9A9C5DAA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33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44C02-BC2A-4899-AD94-55A959BA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622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下载 + SHA256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47C0B-93D4-42A7-B731-F6239823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3675"/>
            <a:ext cx="198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wheel / sdist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SHA256SUMS.txt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校验资产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593B7-650B-4986-828F-D6EB6655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286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49A22-3C17-4A43-AF6E-EA1848F6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33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F0DE9-87C1-4C87-B7A3-4881C230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622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隔离安装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3525F-54B5-4E55-AF96-DFAC1448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33675"/>
            <a:ext cx="198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Python ≥3.11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新 venv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pip install wheel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039C6-14B6-42CC-A7BA-21948CA0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2286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B15B7-05A6-473A-BFAC-01C8E97A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33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43585-1DA8-45EA-87FA-8BBE962A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622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Quickstart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7C1A1-28CD-4535-97AD-BB090868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733675"/>
            <a:ext cx="198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scalar n=1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Exact 与 Cheap 同值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0.05137576466738666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12E3C-200F-402E-A0AF-07D7C193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00250"/>
            <a:ext cx="2286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2B8A5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09115-501E-453B-8BFD-E687C6FE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133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04D46-E7CC-4283-8DD5-E8EAEB82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3622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深入复现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5133E-E869-42E9-887C-6EB91A6F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33675"/>
            <a:ext cx="198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sdist 科学测试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Task 1: 224/224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Task 6: optional native</a:t>
            </a:r>
          </a:p>
        </p:txBody>
      </p: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09875" y="27384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62625" y="27384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15375" y="27384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92022-64F1-42DD-A5B0-49485465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F9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F96"/>
                </a:solidFill>
                <a:latin typeface="Arial"/>
                <a:ea typeface="Arial"/>
                <a:cs typeface="Arial"/>
              </a:rPr>
              <a:t>pip install future_b_diagram_compiler-0.2.0-py3-none-any.whl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4B5B68-6573-4259-9471-ACB8F2C5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下载资产 smoke test：校验和全通过；wheel quickstart 成功；sdist 为 413 passed、2 skipped（缺外部 pin / Docker 镜像）。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8AD95-CA06-49A5-98AE-7F129540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GitHub release SHA256SUMS; docs/DIAGRAM_COMPILER_PACKAGE.md; CI run 35968422250</a:t>
            </a:r>
          </a:p>
        </p:txBody>
      </p:sp>
    </p:spTree>
    <p:extLst>
      <p:ext uri="{BB962C8B-B14F-4D97-AF65-F5344CB8AC3E}">
        <p14:creationId xmlns:p14="http://schemas.microsoft.com/office/powerpoint/2010/main" val="17291694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真实材料接入：需要一个新的 provider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516C6-3B56-4A19-8A7F-87FE6D3C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从第一性原理输入到可采样图对象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04BC1-36D4-40B7-ADDF-0B799434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143125"/>
            <a:ext cx="17145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250E1-2DD9-459A-8FC7-9C6D1669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61A3F-0CF7-4371-9894-3C92CBAA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5050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QE / DFPT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2C3EE-5DDC-48DB-84FF-1EB52B2A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76550"/>
            <a:ext cx="140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bands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phonons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coarse e-ph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A229D-8346-4217-97DA-0397FAEA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17145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16E56-1A63-4846-AB3A-DA19FB28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5AE75-C15A-4329-9304-C479E9A1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050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Wannier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318D3-AABB-4067-96B2-A8BFA2EC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76550"/>
            <a:ext cx="140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localized basis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interpolation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4DE38-CB64-4093-A1E3-01F9CE76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17145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D783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E80BE-9164-48D6-BF46-AD274924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4E8A3-70BF-492E-AEBE-AF6F91D5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050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Perturbo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19CD1-FE24-4B97-928D-7FF9B97A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76550"/>
            <a:ext cx="140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ε(k)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ω(q)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g(k,q)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0E5F8-9443-47B2-B3BC-D3098655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1905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BA4A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C97A6-BAD2-41AE-A641-43B87EE4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37E50-0577-4B52-8B21-FBCABCA5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050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Provider 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A8724-99CA-4273-87A0-270BACF6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765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units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gauge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BindingLayout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EC955-89A2-44AA-9A40-AF166C6A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43125"/>
            <a:ext cx="1905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57390-AFD3-4873-9B7D-C2BE56E5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3F6F5-42FF-4E19-9500-DE852CEE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050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2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Diagram compiler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94AD6-8A66-4FA1-8254-918149EB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765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graph factors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measure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reversible move</a:t>
            </a:r>
          </a:p>
        </p:txBody>
      </p: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47875" y="2881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95750" y="2881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143625" y="2881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382000" y="2881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E11B4D-2C74-4C55-8A4C-3B24AF94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接入 gate：同一 Hamiltonian、单位/规范、积分 measure、Jacobian、反向 proposal、独立 reference。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19974-DC63-4D2C-A238-32AB8B3A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A4A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BA4A63"/>
                </a:solidFill>
                <a:latin typeface="PingFang SC"/>
                <a:ea typeface="PingFang SC"/>
                <a:cs typeface="PingFang SC"/>
              </a:rPr>
              <a:t>当前状态：Task 6 验证 synthetic two-band n=1。真实材料 Binding、完整 observable 与生产 consumer 仍未建立。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C4807-EF6D-4649-9479-49496BCB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External workflow sources: Perturbo documentation; FEP-DMC repository. Current project boundary: Task 6.</a:t>
            </a:r>
          </a:p>
        </p:txBody>
      </p:sp>
    </p:spTree>
    <p:extLst>
      <p:ext uri="{BB962C8B-B14F-4D97-AF65-F5344CB8AC3E}">
        <p14:creationId xmlns:p14="http://schemas.microsoft.com/office/powerpoint/2010/main" val="12057868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发布范围与下一步科学问题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1DD00-631E-4E7D-8139-C6AA7E3B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bounded physics-aware diagram compiler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EBC02-AD3D-422E-999A-C33587A0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4762500" cy="2905125"/>
          </a:xfrm>
          <a:prstGeom xmlns:a="http://schemas.openxmlformats.org/drawingml/2006/main" prst="roundRect">
            <a:avLst>
              <a:gd name="adj" fmla="val 2623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6E8A7-F09D-49B6-984A-A6BEACC3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24075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已经建立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B61F9-7B72-41FC-8DEE-8D2F55E6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95550"/>
            <a:ext cx="4457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显式 DiagramIR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Exact / Cheap 双路径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Design B 精确校正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Typed NativeKernelIR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确定性 Fortran 与 LEVEL 2 toolchain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087D1-F556-4FA0-B2F9-7EF4EC7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62125"/>
            <a:ext cx="4762500" cy="2905125"/>
          </a:xfrm>
          <a:prstGeom xmlns:a="http://schemas.openxmlformats.org/drawingml/2006/main" prst="roundRect">
            <a:avLst>
              <a:gd name="adj" fmla="val 2623"/>
            </a:avLst>
          </a:prstGeom>
          <a:ln xmlns:a="http://schemas.openxmlformats.org/drawingml/2006/main" w="11906">
            <a:solidFill>
              <a:srgbClr val="BA4A6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73012-A981-42B6-AEEA-E50DCD43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24075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尚待建立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48E53-F587-4737-AE08-A3C94A29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95550"/>
            <a:ext cx="4457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任意拓扑/任意阶编译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真实材料 provider 与完整 observable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生产 FEP-DMC / P1 replacement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同精度 Monte Carlo 加速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跨材料泛化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F4EF1-9F79-4A74-BC5D-4DDDB584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0.2.0 交付的是可安装、可复现的计算方法软件包；真实材料完整量与同精度总成本仍是下一阶段。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7C8D6-E418-4594-A9CD-F3267350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Claim boundary: docs/DIAGRAM_COMPILER_PACKAGE.md and Diagram Compiler 0.2.0 release notes</a:t>
            </a:r>
          </a:p>
        </p:txBody>
      </p:sp>
    </p:spTree>
    <p:extLst>
      <p:ext uri="{BB962C8B-B14F-4D97-AF65-F5344CB8AC3E}">
        <p14:creationId xmlns:p14="http://schemas.microsoft.com/office/powerpoint/2010/main" val="96834949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2026-09-24T11:43:23.9340000Z</dcterms:created>
  <dcterms:modified xsi:type="dcterms:W3CDTF">2026-09-24T11:43:23.9340000Z</dcterms:modified>
</coreProperties>
</file>