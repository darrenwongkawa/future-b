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9708025dbc4679" /><Relationship Type="http://schemas.openxmlformats.org/officeDocument/2006/relationships/extended-properties" Target="/docProps/app.xml" Id="R581085745c914405" /><Relationship Type="http://schemas.openxmlformats.org/officeDocument/2006/relationships/officeDocument" Target="/ppt/presentation.xml" Id="Rc39aacdc4892488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060a13a0ddc4ef6"/>
  </p:sldMasterIdLst>
  <p:notesMasterIdLst>
    <p:notesMasterId xmlns:r="http://schemas.openxmlformats.org/officeDocument/2006/relationships" r:id="Rff5337b0b1b34bbb"/>
  </p:notesMasterIdLst>
  <p:sldIdLst>
    <p:sldId xmlns:r="http://schemas.openxmlformats.org/officeDocument/2006/relationships" id="256" r:id="R9ade74518b3642df"/>
    <p:sldId xmlns:r="http://schemas.openxmlformats.org/officeDocument/2006/relationships" id="257" r:id="R8b67bcf482bb4f0b"/>
    <p:sldId xmlns:r="http://schemas.openxmlformats.org/officeDocument/2006/relationships" id="258" r:id="Rfa02d098cceb412b"/>
    <p:sldId xmlns:r="http://schemas.openxmlformats.org/officeDocument/2006/relationships" id="259" r:id="Rcf306309840e49ce"/>
    <p:sldId xmlns:r="http://schemas.openxmlformats.org/officeDocument/2006/relationships" id="260" r:id="R06850f28aa06477c"/>
    <p:sldId xmlns:r="http://schemas.openxmlformats.org/officeDocument/2006/relationships" id="261" r:id="R6cf66d8d46664213"/>
    <p:sldId xmlns:r="http://schemas.openxmlformats.org/officeDocument/2006/relationships" id="262" r:id="R0914b48b9c7d4139"/>
    <p:sldId xmlns:r="http://schemas.openxmlformats.org/officeDocument/2006/relationships" id="263" r:id="R451a2bbcfb594c13"/>
    <p:sldId xmlns:r="http://schemas.openxmlformats.org/officeDocument/2006/relationships" id="264" r:id="R72187e37a0bf4aa1"/>
    <p:sldId xmlns:r="http://schemas.openxmlformats.org/officeDocument/2006/relationships" id="265" r:id="Ra45fd7f84f704bbd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67d5f7abd91544e2"/>
      <p:italic xmlns:r="http://schemas.openxmlformats.org/officeDocument/2006/relationships" r:id="R74c4cf50471b4448"/>
    </p:embeddedFont>
    <p:embeddedFont>
      <p:font typeface="Lora SemiBold"/>
      <p:regular xmlns:r="http://schemas.openxmlformats.org/officeDocument/2006/relationships" r:id="R978343c610e54e80"/>
      <p:bold xmlns:r="http://schemas.openxmlformats.org/officeDocument/2006/relationships" r:id="R1f34237ac63b4fe8"/>
      <p:italic xmlns:r="http://schemas.openxmlformats.org/officeDocument/2006/relationships" r:id="R95e4646bf33c4ff7"/>
      <p:boldItalic xmlns:r="http://schemas.openxmlformats.org/officeDocument/2006/relationships" r:id="R276ddd5213b24507"/>
    </p:embeddedFont>
    <p:embeddedFont>
      <p:font typeface="OpenAI Sans"/>
      <p:regular xmlns:r="http://schemas.openxmlformats.org/officeDocument/2006/relationships" r:id="R8189c707652d4745"/>
      <p:bold xmlns:r="http://schemas.openxmlformats.org/officeDocument/2006/relationships" r:id="R06896354e57d4b97"/>
      <p:italic xmlns:r="http://schemas.openxmlformats.org/officeDocument/2006/relationships" r:id="R8bbaf0f2e93148f1"/>
      <p:boldItalic xmlns:r="http://schemas.openxmlformats.org/officeDocument/2006/relationships" r:id="Rafb741398b8f488f"/>
    </p:embeddedFont>
    <p:embeddedFont>
      <p:font typeface="Roboto"/>
      <p:regular xmlns:r="http://schemas.openxmlformats.org/officeDocument/2006/relationships" r:id="Rab979de8c5874523"/>
      <p:bold xmlns:r="http://schemas.openxmlformats.org/officeDocument/2006/relationships" r:id="R4cd196b271074a95"/>
      <p:italic xmlns:r="http://schemas.openxmlformats.org/officeDocument/2006/relationships" r:id="R3f7da1cd20c74f4f"/>
      <p:boldItalic xmlns:r="http://schemas.openxmlformats.org/officeDocument/2006/relationships" r:id="R0d8f2e4c4f224dbe"/>
    </p:embeddedFont>
    <p:embeddedFont>
      <p:font typeface="Roboto Medium"/>
      <p:regular xmlns:r="http://schemas.openxmlformats.org/officeDocument/2006/relationships" r:id="Re385f7a0b2e048ce"/>
      <p:italic xmlns:r="http://schemas.openxmlformats.org/officeDocument/2006/relationships" r:id="R8669b79e9aa744d0"/>
    </p:embeddedFont>
    <p:embeddedFont>
      <p:font typeface="Roboto SemiBold"/>
      <p:regular xmlns:r="http://schemas.openxmlformats.org/officeDocument/2006/relationships" r:id="Rdf576116ed6441ed"/>
      <p:bold xmlns:r="http://schemas.openxmlformats.org/officeDocument/2006/relationships" r:id="R80b2ca00a42946c4"/>
      <p:italic xmlns:r="http://schemas.openxmlformats.org/officeDocument/2006/relationships" r:id="R3a72b73ee2a042b1"/>
      <p:boldItalic xmlns:r="http://schemas.openxmlformats.org/officeDocument/2006/relationships" r:id="R55c6b689e3b14831"/>
    </p:embeddedFont>
    <p:embeddedFont>
      <p:font typeface="Roboto Serif 14pt"/>
      <p:regular xmlns:r="http://schemas.openxmlformats.org/officeDocument/2006/relationships" r:id="R82fbedb4d99f42bf"/>
      <p:bold xmlns:r="http://schemas.openxmlformats.org/officeDocument/2006/relationships" r:id="R27586642e1b44bd1"/>
      <p:italic xmlns:r="http://schemas.openxmlformats.org/officeDocument/2006/relationships" r:id="R23f678806d6d42c0"/>
      <p:boldItalic xmlns:r="http://schemas.openxmlformats.org/officeDocument/2006/relationships" r:id="R1528fdb605b84a3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962048c8c34d17" /><Relationship Type="http://schemas.openxmlformats.org/officeDocument/2006/relationships/slideMaster" Target="/ppt/slideMasters/slideMaster1.xml" Id="R9060a13a0ddc4ef6" /><Relationship Type="http://schemas.openxmlformats.org/officeDocument/2006/relationships/notesMaster" Target="/ppt/notesMasters/notesMaster1.xml" Id="Rff5337b0b1b34bbb" /><Relationship Type="http://schemas.openxmlformats.org/officeDocument/2006/relationships/presProps" Target="/ppt/presProps.xml" Id="R35c246ab7ff04f87" /><Relationship Type="http://schemas.openxmlformats.org/officeDocument/2006/relationships/viewProps" Target="/ppt/viewProps.xml" Id="R8c8a425fb6374d87" /><Relationship Type="http://schemas.openxmlformats.org/officeDocument/2006/relationships/tableStyles" Target="/ppt/tableStyles.xml" Id="Rafdbf9f03f614175" /><Relationship Type="http://schemas.openxmlformats.org/officeDocument/2006/relationships/font" Target="/ppt/fonts/font.dat" Id="R67d5f7abd91544e2" /><Relationship Type="http://schemas.openxmlformats.org/officeDocument/2006/relationships/font" Target="/ppt/fonts/font2.dat" Id="R74c4cf50471b4448" /><Relationship Type="http://schemas.openxmlformats.org/officeDocument/2006/relationships/font" Target="/ppt/fonts/font3.dat" Id="R978343c610e54e80" /><Relationship Type="http://schemas.openxmlformats.org/officeDocument/2006/relationships/font" Target="/ppt/fonts/font4.dat" Id="R1f34237ac63b4fe8" /><Relationship Type="http://schemas.openxmlformats.org/officeDocument/2006/relationships/font" Target="/ppt/fonts/font5.dat" Id="R95e4646bf33c4ff7" /><Relationship Type="http://schemas.openxmlformats.org/officeDocument/2006/relationships/font" Target="/ppt/fonts/font6.dat" Id="R276ddd5213b24507" /><Relationship Type="http://schemas.openxmlformats.org/officeDocument/2006/relationships/font" Target="/ppt/fonts/font7.dat" Id="R8189c707652d4745" /><Relationship Type="http://schemas.openxmlformats.org/officeDocument/2006/relationships/font" Target="/ppt/fonts/font8.dat" Id="R06896354e57d4b97" /><Relationship Type="http://schemas.openxmlformats.org/officeDocument/2006/relationships/font" Target="/ppt/fonts/font9.dat" Id="R8bbaf0f2e93148f1" /><Relationship Type="http://schemas.openxmlformats.org/officeDocument/2006/relationships/font" Target="/ppt/fonts/font10.dat" Id="Rafb741398b8f488f" /><Relationship Type="http://schemas.openxmlformats.org/officeDocument/2006/relationships/font" Target="/ppt/fonts/font11.dat" Id="Rab979de8c5874523" /><Relationship Type="http://schemas.openxmlformats.org/officeDocument/2006/relationships/font" Target="/ppt/fonts/font12.dat" Id="R4cd196b271074a95" /><Relationship Type="http://schemas.openxmlformats.org/officeDocument/2006/relationships/font" Target="/ppt/fonts/font13.dat" Id="R3f7da1cd20c74f4f" /><Relationship Type="http://schemas.openxmlformats.org/officeDocument/2006/relationships/font" Target="/ppt/fonts/font14.dat" Id="R0d8f2e4c4f224dbe" /><Relationship Type="http://schemas.openxmlformats.org/officeDocument/2006/relationships/font" Target="/ppt/fonts/font15.dat" Id="Re385f7a0b2e048ce" /><Relationship Type="http://schemas.openxmlformats.org/officeDocument/2006/relationships/font" Target="/ppt/fonts/font16.dat" Id="R8669b79e9aa744d0" /><Relationship Type="http://schemas.openxmlformats.org/officeDocument/2006/relationships/font" Target="/ppt/fonts/font17.dat" Id="Rdf576116ed6441ed" /><Relationship Type="http://schemas.openxmlformats.org/officeDocument/2006/relationships/font" Target="/ppt/fonts/font18.dat" Id="R80b2ca00a42946c4" /><Relationship Type="http://schemas.openxmlformats.org/officeDocument/2006/relationships/font" Target="/ppt/fonts/font19.dat" Id="R3a72b73ee2a042b1" /><Relationship Type="http://schemas.openxmlformats.org/officeDocument/2006/relationships/font" Target="/ppt/fonts/font20.dat" Id="R55c6b689e3b14831" /><Relationship Type="http://schemas.openxmlformats.org/officeDocument/2006/relationships/font" Target="/ppt/fonts/font21.dat" Id="R82fbedb4d99f42bf" /><Relationship Type="http://schemas.openxmlformats.org/officeDocument/2006/relationships/font" Target="/ppt/fonts/font22.dat" Id="R27586642e1b44bd1" /><Relationship Type="http://schemas.openxmlformats.org/officeDocument/2006/relationships/font" Target="/ppt/fonts/font23.dat" Id="R23f678806d6d42c0" /><Relationship Type="http://schemas.openxmlformats.org/officeDocument/2006/relationships/font" Target="/ppt/fonts/font24.dat" Id="R1528fdb605b84a33" /><Relationship Type="http://schemas.openxmlformats.org/officeDocument/2006/relationships/slide" Target="/ppt/slides/slide1.xml" Id="R9ade74518b3642df" /><Relationship Type="http://schemas.openxmlformats.org/officeDocument/2006/relationships/slide" Target="/ppt/slides/slide2.xml" Id="R8b67bcf482bb4f0b" /><Relationship Type="http://schemas.openxmlformats.org/officeDocument/2006/relationships/slide" Target="/ppt/slides/slide3.xml" Id="Rfa02d098cceb412b" /><Relationship Type="http://schemas.openxmlformats.org/officeDocument/2006/relationships/slide" Target="/ppt/slides/slide4.xml" Id="Rcf306309840e49ce" /><Relationship Type="http://schemas.openxmlformats.org/officeDocument/2006/relationships/slide" Target="/ppt/slides/slide5.xml" Id="R06850f28aa06477c" /><Relationship Type="http://schemas.openxmlformats.org/officeDocument/2006/relationships/slide" Target="/ppt/slides/slide6.xml" Id="R6cf66d8d46664213" /><Relationship Type="http://schemas.openxmlformats.org/officeDocument/2006/relationships/slide" Target="/ppt/slides/slide7.xml" Id="R0914b48b9c7d4139" /><Relationship Type="http://schemas.openxmlformats.org/officeDocument/2006/relationships/slide" Target="/ppt/slides/slide8.xml" Id="R451a2bbcfb594c13" /><Relationship Type="http://schemas.openxmlformats.org/officeDocument/2006/relationships/slide" Target="/ppt/slides/slide9.xml" Id="R72187e37a0bf4aa1" /><Relationship Type="http://schemas.openxmlformats.org/officeDocument/2006/relationships/slide" Target="/ppt/slides/slide10.xml" Id="Ra45fd7f84f704b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ed21f667a548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3f8b5086624cbb" /><Relationship Type="http://schemas.openxmlformats.org/officeDocument/2006/relationships/notesMaster" Target="/ppt/notesMasters/notesMaster1.xml" Id="R79809fcaebdd45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a8005615844232" /><Relationship Type="http://schemas.openxmlformats.org/officeDocument/2006/relationships/notesMaster" Target="/ppt/notesMasters/notesMaster1.xml" Id="R49dbe727e06049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8c607d7a0f4ca0" /><Relationship Type="http://schemas.openxmlformats.org/officeDocument/2006/relationships/notesMaster" Target="/ppt/notesMasters/notesMaster1.xml" Id="R651e1c7832294c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0cdcba2cc24698" /><Relationship Type="http://schemas.openxmlformats.org/officeDocument/2006/relationships/notesMaster" Target="/ppt/notesMasters/notesMaster1.xml" Id="R5975e96b40ad44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2fb4baa02d4726" /><Relationship Type="http://schemas.openxmlformats.org/officeDocument/2006/relationships/notesMaster" Target="/ppt/notesMasters/notesMaster1.xml" Id="Rb9b037d149f642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df3624bf6b4548" /><Relationship Type="http://schemas.openxmlformats.org/officeDocument/2006/relationships/notesMaster" Target="/ppt/notesMasters/notesMaster1.xml" Id="R66cc86c571b144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1fb78616524c94" /><Relationship Type="http://schemas.openxmlformats.org/officeDocument/2006/relationships/notesMaster" Target="/ppt/notesMasters/notesMaster1.xml" Id="R0fc2c61d7d6445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7543aacde74f0d" /><Relationship Type="http://schemas.openxmlformats.org/officeDocument/2006/relationships/notesMaster" Target="/ppt/notesMasters/notesMaster1.xml" Id="R698d69fb1b6f48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f9961a87294c3f" /><Relationship Type="http://schemas.openxmlformats.org/officeDocument/2006/relationships/notesMaster" Target="/ppt/notesMasters/notesMaster1.xml" Id="R2d85729764884d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7d16cda0154482" /><Relationship Type="http://schemas.openxmlformats.org/officeDocument/2006/relationships/notesMaster" Target="/ppt/notesMasters/notesMaster1.xml" Id="Rb125bda09fb841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1–7 Diagram Compiler evidence. This deck distinguishes the stable Future B release from the experimental research preview.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 graph audit 2026-09-24. local main 6e5529f is an ancestor of preview 2fc153f. Remote main cbc951c has a different root commit (77835ca) and no merge base with preview. CI run 35452501720: success.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1 scope: fixed-order scalar Holstein and Hermitian two-band families. This formula is a compact schematic of the documented diagram contribution, not a new material Hamiltonian.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1 DiagramIR → Task 2 cheap policy → Task 3 delayed acceptance → Task 4 NativeKernelIR → Task 5 Fortran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policy: exact F only if finite, real, positive. |F|, complex modulus, and F^2 are refused. The tests include mutations that remove Stage 2 or invert Hastings.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source: research/diagram_compiler/task1/graph_stats.csv; task2/graph_costs.csv. The graph statistics document says counts only, not speedup.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6 uses a separate validation executable. FEP-DMC pin 05d08449 remains PUBLIC_PRISTINE. No production update_swap or P1 replacement.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7 remediation added tracked R1 oracle source, Dockerfile.u22, explicit FEP-DMC path, and CI. The prerelease has an evidence tarball and SHA256SUMS.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External background: Perturbo documentation describes QE/DFPT, Wannier, and e-ph inputs. This slide is a proposed integration boundary, not a statement that the compiler has completed a real-material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framing: method and scientific software contribution within bounded scope. Do not claim generic QFT compilation, production replacement, or performance gain.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95df4d2d64b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476a4704847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73312f22144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b944ea00b49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fb1da69024f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741cc74895427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0da02f73d474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721c7b405416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c2523ec14147ec" /><Relationship Type="http://schemas.openxmlformats.org/officeDocument/2006/relationships/slideLayout" Target="/ppt/slideLayouts/slideLayout1.xml" Id="R7fa7e9523c464b60" /><Relationship Type="http://schemas.openxmlformats.org/officeDocument/2006/relationships/slideLayout" Target="/ppt/slideLayouts/slideLayout2.xml" Id="R9671d904246045cc" /><Relationship Type="http://schemas.openxmlformats.org/officeDocument/2006/relationships/slideLayout" Target="/ppt/slideLayouts/slideLayout3.xml" Id="R128cf35c89064314" /><Relationship Type="http://schemas.openxmlformats.org/officeDocument/2006/relationships/slideLayout" Target="/ppt/slideLayouts/slideLayout4.xml" Id="R729db8aa77144b31" /><Relationship Type="http://schemas.openxmlformats.org/officeDocument/2006/relationships/slideLayout" Target="/ppt/slideLayouts/slideLayout5.xml" Id="R341b47e54bf646d4" /><Relationship Type="http://schemas.openxmlformats.org/officeDocument/2006/relationships/slideLayout" Target="/ppt/slideLayouts/slideLayout6.xml" Id="R0eb815372d534f47" /><Relationship Type="http://schemas.openxmlformats.org/officeDocument/2006/relationships/slideLayout" Target="/ppt/slideLayouts/slideLayout7.xml" Id="R6916caf2ea014961" /><Relationship Type="http://schemas.openxmlformats.org/officeDocument/2006/relationships/slideLayout" Target="/ppt/slideLayouts/slideLayout8.xml" Id="Rd98034f13947403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a7e9523c464b60"/>
    <p:sldLayoutId xmlns:r="http://schemas.openxmlformats.org/officeDocument/2006/relationships" id="2147483650" r:id="R9671d904246045cc"/>
    <p:sldLayoutId xmlns:r="http://schemas.openxmlformats.org/officeDocument/2006/relationships" id="2147483651" r:id="R128cf35c89064314"/>
    <p:sldLayoutId xmlns:r="http://schemas.openxmlformats.org/officeDocument/2006/relationships" id="2147483652" r:id="R729db8aa77144b31"/>
    <p:sldLayoutId xmlns:r="http://schemas.openxmlformats.org/officeDocument/2006/relationships" id="2147483653" r:id="R341b47e54bf646d4"/>
    <p:sldLayoutId xmlns:r="http://schemas.openxmlformats.org/officeDocument/2006/relationships" id="2147483654" r:id="R0eb815372d534f47"/>
    <p:sldLayoutId xmlns:r="http://schemas.openxmlformats.org/officeDocument/2006/relationships" id="2147483655" r:id="R6916caf2ea014961"/>
    <p:sldLayoutId xmlns:r="http://schemas.openxmlformats.org/officeDocument/2006/relationships" id="2147483656" r:id="Rd98034f139474038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5a30e55ef4341" /><Relationship Type="http://schemas.openxmlformats.org/officeDocument/2006/relationships/notesSlide" Target="/ppt/notesSlides/notesSlide1.xml" Id="R4f118026c4ea46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9fa19a29864da4" /><Relationship Type="http://schemas.openxmlformats.org/officeDocument/2006/relationships/notesSlide" Target="/ppt/notesSlides/notesSlide2.xml" Id="R8f738821707b47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f18a6803f43d7" /><Relationship Type="http://schemas.openxmlformats.org/officeDocument/2006/relationships/notesSlide" Target="/ppt/notesSlides/notesSlide3.xml" Id="Rbc095ea69eb14f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8cd8c13ba0467e" /><Relationship Type="http://schemas.openxmlformats.org/officeDocument/2006/relationships/notesSlide" Target="/ppt/notesSlides/notesSlide4.xml" Id="R5b03147efd124f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5faaf967e54fa2" /><Relationship Type="http://schemas.openxmlformats.org/officeDocument/2006/relationships/notesSlide" Target="/ppt/notesSlides/notesSlide5.xml" Id="Rc5bb9ca82b1f4f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23ddb8c3b147b1" /><Relationship Type="http://schemas.openxmlformats.org/officeDocument/2006/relationships/chart" Target="/ppt/slides/charts/chart1.xml" Id="R96f12ed426574fc8" /><Relationship Type="http://schemas.openxmlformats.org/officeDocument/2006/relationships/notesSlide" Target="/ppt/notesSlides/notesSlide6.xml" Id="R46719451898d46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8733b81dd1456a" /><Relationship Type="http://schemas.openxmlformats.org/officeDocument/2006/relationships/notesSlide" Target="/ppt/notesSlides/notesSlide7.xml" Id="Re5a17f5c33ec4d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1a3154fa0442fa" /><Relationship Type="http://schemas.openxmlformats.org/officeDocument/2006/relationships/notesSlide" Target="/ppt/notesSlides/notesSlide8.xml" Id="Rcd953a1340c84f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737acc011b46d5" /><Relationship Type="http://schemas.openxmlformats.org/officeDocument/2006/relationships/notesSlide" Target="/ppt/notesSlides/notesSlide9.xml" Id="R516976dd244c49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840eacbc7b4226" /><Relationship Type="http://schemas.openxmlformats.org/officeDocument/2006/relationships/notesSlide" Target="/ppt/notesSlides/notesSlide10.xml" Id="R7a9d362e99c34f1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naive nodes</c:v>
          </c:tx>
          <c:spPr>
            <a:solidFill xmlns:a="http://schemas.openxmlformats.org/drawingml/2006/main">
              <a:srgbClr val="D78318"/>
            </a:solidFill>
          </c:spPr>
          <c:cat>
            <c:strRef>
              <c:f>'Chart Data'!$A$2:$A$5</c:f>
              <c:strCache>
                <c:ptCount val="4"/>
                <c:pt idx="0">
                  <c:v>n=1</c:v>
                </c:pt>
                <c:pt idx="1">
                  <c:v>n=2</c:v>
                </c:pt>
                <c:pt idx="2">
                  <c:v>n=3</c:v>
                </c:pt>
                <c:pt idx="3">
                  <c:v>n=4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</c:v>
                </c:pt>
                <c:pt idx="1">
                  <c:v>35</c:v>
                </c:pt>
                <c:pt idx="2">
                  <c:v>257</c:v>
                </c:pt>
                <c:pt idx="3">
                  <c:v>2417</c:v>
                </c:pt>
              </c:numCache>
            </c:numRef>
          </c:val>
        </c:ser>
        <c:ser>
          <c:idx val="1"/>
          <c:order val="1"/>
          <c:tx>
            <c:v>shared DAG nodes</c:v>
          </c:tx>
          <c:spPr>
            <a:solidFill xmlns:a="http://schemas.openxmlformats.org/drawingml/2006/main">
              <a:srgbClr val="335BC3"/>
            </a:solidFill>
          </c:spPr>
          <c:cat>
            <c:strRef>
              <c:f>'Chart Data'!$C$2:$C$5</c:f>
              <c:strCache>
                <c:ptCount val="4"/>
                <c:pt idx="0">
                  <c:v>n=1</c:v>
                </c:pt>
                <c:pt idx="1">
                  <c:v>n=2</c:v>
                </c:pt>
                <c:pt idx="2">
                  <c:v>n=3</c:v>
                </c:pt>
                <c:pt idx="3">
                  <c:v>n=4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7</c:v>
                </c:pt>
                <c:pt idx="1">
                  <c:v>28</c:v>
                </c:pt>
                <c:pt idx="2">
                  <c:v>124</c:v>
                </c:pt>
                <c:pt idx="3">
                  <c:v>803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Scalar fixed order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Graph nodes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anchor="b">
            <a:normAutofit fontScale="100000"/>
          </a:bodyPr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pPr>
              <a:defRPr sz="35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35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Diagram Compiler</a:t>
            </a:r>
          </a:p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defRPr sz="1725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725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方法与软件包审查</a:t>
            </a:r>
          </a:p>
          <a:p xmlns:a="http://schemas.openxmlformats.org/drawingml/2006/main">
            <a:pPr>
              <a:defRPr sz="1725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725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固定阶物理图到可验证原生内核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CFE3D-4A10-4CE0-B508-F7FA0810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GitHub 版本审查  |  2026-09-24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FC593-D7C8-4E77-94E9-C8E3E9E7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实验研究预览：bounded physics-aware diagram compiler</a:t>
            </a:r>
          </a:p>
        </p:txBody>
      </p:sp>
    </p:spTree>
    <p:extLst>
      <p:ext uri="{BB962C8B-B14F-4D97-AF65-F5344CB8AC3E}">
        <p14:creationId xmlns:p14="http://schemas.microsoft.com/office/powerpoint/2010/main" val="11651614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GitHub 版本审查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E9349-708E-472B-938B-3160B8CF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公开版本与实验支线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8EA60-DA0F-433B-928D-B9936B95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62125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11906">
            <a:solidFill>
              <a:srgbClr val="173F9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C9CA1-8EF8-4B76-BF26-BE77F19B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95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8F2AE-F110-461F-920E-EE5E7DAE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240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GitHub stable 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7A02B-5A12-4D80-9A15-576DFCF8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95550"/>
            <a:ext cx="21717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main / v1.2.0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commit cbc951c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公开生产线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83F6F-B736-4689-A249-EBAAB492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82879-8803-4DD1-BF06-1E9B77F9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95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D0131-EED3-43D9-9CFA-9471993A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240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Local extract 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F78C0-593E-40E8-BED7-0019C24B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95550"/>
            <a:ext cx="21717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commit 6e5529f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experimental ancestor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本地 extract 历史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A5CB1-BD6F-45B8-A02B-21416F4F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62125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84E1A-7D62-45B0-8048-39379521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895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1DF8F-0075-4C65-B9E7-D3870B51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240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Experimental 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FF687-C032-4DBE-8ABD-25F291F7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21717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diagram-compiler-v0.1.0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commit 2fc153f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prerelease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D16A1-8089-433B-8A84-9B12BFD7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62125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11906">
            <a:solidFill>
              <a:srgbClr val="2B8A5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5C111-4DF9-4ED1-A4B3-88C98FC5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95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761D7-4697-4F43-B63D-0E0A3FC9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24075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CI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32922-EA01-497C-9561-B3458D25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95550"/>
            <a:ext cx="1885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run 35452501720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completed: success</a:t>
            </a:r>
          </a:p>
        </p:txBody>
      </p: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10250" y="26670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15375" y="26670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8A59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EE8E71-7A6A-481F-95DC-01EE81C9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rPr>
              <a:t>关系：本地 extract main 是 preview 的祖先；GitHub stable main 与 preview 没有共同祖先。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5DCDE-EBA8-489D-BB72-C41D4BC7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958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影响：preview 可以作为独立 release；但不能用普通 PR diff / merge 证明它与 GitHub stable main 的版本关联。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83B44-9789-4C06-9AA6-89545DEE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GitHub API checked 2026-09-24 · local extract 6e5529f → preview 2fc153f · remote main cbc951c has no merge-base</a:t>
            </a:r>
          </a:p>
        </p:txBody>
      </p:sp>
    </p:spTree>
    <p:extLst>
      <p:ext uri="{BB962C8B-B14F-4D97-AF65-F5344CB8AC3E}">
        <p14:creationId xmlns:p14="http://schemas.microsoft.com/office/powerpoint/2010/main" val="112286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理论背景：固定阶图的结构化求和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557E7-63B4-4520-91E3-BC361928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电子—声子图与重复子表达式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1E5BD-3747-4C8D-A604-2EED211E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73F9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3F96"/>
                </a:solidFill>
                <a:latin typeface="Arial"/>
                <a:ea typeface="Arial"/>
                <a:cs typeface="Arial"/>
              </a:rPr>
              <a:t>Fₙ(x) = (g/√L)²ⁿ · Σ pairing C · Π electron G · Π phonon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497B1-9321-485A-B141-B8229CFA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1657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1657F"/>
                </a:solidFill>
                <a:latin typeface="Arial"/>
                <a:ea typeface="Arial"/>
                <a:cs typeface="Arial"/>
              </a:rPr>
              <a:t>ξₖ = 2t(1 − cos k)    G(p,Δτ) = exp(−ξₚΔτ)    D(Δτ) = exp(−ωΔτ)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392F2-74AD-4D16-BBE7-D8C2624F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11906">
            <a:solidFill>
              <a:srgbClr val="173F9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3613E-460D-460E-A3E1-4F42B441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052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Hamiltonian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3CACF-EBA5-4BDD-9809-8BA5EAB4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76675"/>
            <a:ext cx="1885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色散、声子、耦合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定义物理对象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F5988-F8B4-41F0-AEA7-E4A6CD7D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43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19065-8485-4DB1-940C-50B9A6C2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5052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Pairing diagrams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389CE-9274-4DB9-92AA-E9224522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876675"/>
            <a:ext cx="1885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不同拓扑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共享叶节点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1769B-96C7-4961-BC39-3321024B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43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11906">
            <a:solidFill>
              <a:srgbClr val="D7831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687F0-13F6-4A94-8FC2-7A0EBF36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5052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94979-E201-4B10-8EA9-29C6FE5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876675"/>
            <a:ext cx="1885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标量或矩阵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保持乘法顺序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2CDC8-DC06-482C-9CF3-ECB2F290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43250"/>
            <a:ext cx="1381125" cy="1428750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86992-44DB-4D35-B5A2-704702C4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505200"/>
            <a:ext cx="1076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ECD08E-63D7-4068-9652-9E335405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876675"/>
            <a:ext cx="10763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F or Op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09875" y="38576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53125" y="38576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096375" y="38576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06393-3112-44CC-9E64-84788FBC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问题不只是图数量。必须同时保留物理语义、矩阵顺序、变量绑定和可复现的数值契约。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B5FBEF-6D0B-487F-8176-8125A87D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Source: Task 1 documentation and R1 fixed-order contract</a:t>
            </a:r>
          </a:p>
        </p:txBody>
      </p:sp>
    </p:spTree>
    <p:extLst>
      <p:ext uri="{BB962C8B-B14F-4D97-AF65-F5344CB8AC3E}">
        <p14:creationId xmlns:p14="http://schemas.microsoft.com/office/powerpoint/2010/main" val="16892186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方法流程：同一份 DiagramIR 驱动整个编译链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58066-3F6B-4457-A6D3-68FAB41B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从语义对象到原生可执行文件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467FE-9435-4D80-9212-B80C2181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ln xmlns:a="http://schemas.openxmlformats.org/drawingml/2006/main" w="11906">
            <a:solidFill>
              <a:srgbClr val="173F9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ECFF4-B874-4EAD-A38B-1E5AED3B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669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FB1E6-7A9E-4A76-ACF7-623486A7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9557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DiagramIR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1EA8F-922D-4616-9C4C-A0C30AA3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67050"/>
            <a:ext cx="1504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family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pairing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factors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95127-DCC7-4766-9747-38BA5712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3362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5E1ED-08E9-4830-A04D-16454AC2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669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679DF-B7F6-4FB0-B2D8-075840E0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9557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9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Exact / Cheap DAG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77AD5-CF56-4E42-864A-269DD122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1504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ordered CSE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policy-defined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state weight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F752C-D363-4039-BE36-B0BD59CF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3362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ln xmlns:a="http://schemas.openxmlformats.org/drawingml/2006/main" w="11906">
            <a:solidFill>
              <a:srgbClr val="D7831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1E1B1-E8A2-4BA8-9DC2-3498D153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4669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24BC6-DA5B-4226-A755-7C55FE9B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9557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Design B 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22A40-7821-44B3-8D7D-76F4CC0D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67050"/>
            <a:ext cx="1504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Stage 1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Stage 2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Hastings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15A00-110A-4995-ABD0-3FF1592B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ln xmlns:a="http://schemas.openxmlformats.org/drawingml/2006/main" w="11906">
            <a:solidFill>
              <a:srgbClr val="BA4A6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CB6223-1EAB-4BF1-A8D5-084E62A7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669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945CA-7508-407A-9A22-994EADB7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9557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NativeKernelIR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C1DDC-6CC7-4A2E-B28D-88685A7A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67050"/>
            <a:ext cx="1504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typed SSA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CFG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3B921-C5B1-4E0B-A0C2-343753AA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3362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B608A-F694-437D-9D8F-41B2047D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4669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094C8D-DBBA-466E-8D7A-680F16BA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69557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Fortran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06AB40-4B38-415B-ADA3-28268436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067050"/>
            <a:ext cx="1504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deterministic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ABI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cxnSp>
        <p:nvCxnSpPr>
          <p:cNvPr id="51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25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BA1"/>
            </a:solidFill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572000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BA1"/>
            </a:solidFill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10375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BA1"/>
            </a:solidFill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048750" y="3143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BA1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B1F6D9-84BA-45F0-9C4A-650C5071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核心方法：Exact 与 Cheap 从同一 IR 生成。近似策略、目标策略和原生状态码都被显式记录。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25A0AB-69DB-4857-9946-57C4C10D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Source: Task 1–5 architecture and JSON evidence artifacts</a:t>
            </a:r>
          </a:p>
        </p:txBody>
      </p:sp>
    </p:spTree>
    <p:extLst>
      <p:ext uri="{BB962C8B-B14F-4D97-AF65-F5344CB8AC3E}">
        <p14:creationId xmlns:p14="http://schemas.microsoft.com/office/powerpoint/2010/main" val="1597116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精确保持的延迟接受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9C8ED-BC1E-4640-B39A-70FE5A38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Design B on positive_real_F_v1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F2185-A004-465B-87B2-A4949167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11906">
            <a:solidFill>
              <a:srgbClr val="D7831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D0A98-0E83-4884-B259-B69C8585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86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214DC-C270-4836-9B81-BB3E2E4B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1470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Cheap(x,y)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3AC1A-C614-4C9E-870A-8F31E5F0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86175"/>
            <a:ext cx="1647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log Ŵ(y) − log Ŵ(x)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C274A-8556-4B8B-985B-35841DC3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52750"/>
            <a:ext cx="1952625" cy="1381125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84AB5-EADE-4946-B08D-26B3393E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86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C2057-BC53-48DF-97DE-40E6F9B1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14700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Stage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4CE4A-1218-4556-8003-48E75A73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686175"/>
            <a:ext cx="1647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cheap acceptance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pass or reject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ECD67-5BC4-4878-98F7-F25F15F4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66875"/>
            <a:ext cx="2047875" cy="1285875"/>
          </a:xfrm>
          <a:prstGeom xmlns:a="http://schemas.openxmlformats.org/drawingml/2006/main" prst="roundRect">
            <a:avLst>
              <a:gd name="adj" fmla="val 5926"/>
            </a:avLst>
          </a:prstGeom>
          <a:ln xmlns:a="http://schemas.openxmlformats.org/drawingml/2006/main" w="11906">
            <a:solidFill>
              <a:srgbClr val="BA4A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90556-8A3D-4E63-91D6-64850246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8002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rPr>
              <a:t>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44262-226C-4A3F-8FE5-6FDC9211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28825"/>
            <a:ext cx="1743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Early reject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752AC-C465-411E-B156-6027348D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400300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exact graph calls =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B89B3-C0FD-4CA0-BDF1-88A7405B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91000"/>
            <a:ext cx="2047875" cy="1285875"/>
          </a:xfrm>
          <a:prstGeom xmlns:a="http://schemas.openxmlformats.org/drawingml/2006/main" prst="roundRect">
            <a:avLst>
              <a:gd name="adj" fmla="val 5926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25569-D829-4B67-8D27-817A1881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3243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D6322-4F92-4C9C-9FF6-EA71BB8B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552950"/>
            <a:ext cx="1743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Exact(x,y)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2116A9-77A2-4F0B-B1F6-010C919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924425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log π(y) − log π(x)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4FFA2-DB9A-4DD4-B1CB-F8A60B20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ln xmlns:a="http://schemas.openxmlformats.org/drawingml/2006/main" w="11906">
            <a:solidFill>
              <a:srgbClr val="2B8A5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ED9B5-05F0-47DB-8F01-C59AD9EB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243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B9246-8DD4-4848-B429-C7C9836A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529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Stage 2 correction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E89D5-9D50-4377-9A3A-85296768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2442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ell_R − ell_hat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accept/reject</a:t>
            </a:r>
          </a:p>
        </p:txBody>
      </p:sp>
      <p:cxnSp>
        <p:nvCxnSpPr>
          <p:cNvPr id="52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71750" y="364331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5238750" y="2309813"/>
            <a:ext cx="714375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A4A63"/>
            </a:solidFill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7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238750" y="3643313"/>
            <a:ext cx="714375" cy="1190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9D9C"/>
            </a:solidFill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001000" y="4833938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8A59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4FFE77-9604-4BAD-8707-AA832CC9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73F9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3F96"/>
                </a:solidFill>
                <a:latin typeface="Arial"/>
                <a:ea typeface="Arial"/>
                <a:cs typeface="Arial"/>
              </a:rPr>
              <a:t>ell_R = log π(y) − log π(x) + log q(y,x) − log q(x,y)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827715-60D3-4195-BA4F-65B39D8C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960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有限状态测试：symmetric balance 1.39×10⁻¹⁷；asymmetric stationarity 2.78×10⁻¹⁷。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318541-0976-4552-A483-1111BA82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Source: Task 3 finite_state_balance.csv and mutation tests</a:t>
            </a:r>
          </a:p>
        </p:txBody>
      </p:sp>
    </p:spTree>
    <p:extLst>
      <p:ext uri="{BB962C8B-B14F-4D97-AF65-F5344CB8AC3E}">
        <p14:creationId xmlns:p14="http://schemas.microsoft.com/office/powerpoint/2010/main" val="780397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数据：结构复用与廉价路径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AC1A5-587D-483B-99F8-B2B3699E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节点数和昂贵 primitive 数量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1381125"/>
          <a:ext xmlns:a="http://schemas.openxmlformats.org/drawingml/2006/main" cx="6096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f12ed426574fc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78E7C-4234-436D-805C-FD942FA7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66875"/>
            <a:ext cx="3619500" cy="1285875"/>
          </a:xfrm>
          <a:prstGeom xmlns:a="http://schemas.openxmlformats.org/drawingml/2006/main" prst="roundRect">
            <a:avLst>
              <a:gd name="adj" fmla="val 5926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AF982-1788-4A49-A4C1-6C167AF5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28825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Two-band n=3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E3275-1031-4159-941B-068BED3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00300"/>
            <a:ext cx="331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Exact expensive primitives: 110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Cheap expensive primitives: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E41C9-A893-45FC-A5ED-91819FD3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3619500" cy="1285875"/>
          </a:xfrm>
          <a:prstGeom xmlns:a="http://schemas.openxmlformats.org/drawingml/2006/main" prst="roundRect">
            <a:avLst>
              <a:gd name="adj" fmla="val 5926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62EE6-88B3-42E1-8FA2-E55E4709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957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323C7-218E-458F-98C4-868D3603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67175"/>
            <a:ext cx="331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共享 DAG 降低重复计算。Cheap policy 移除矩阵 primitive。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D24DE-7D41-4FC0-BD7F-A38FBC1D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57750"/>
            <a:ext cx="3619500" cy="1285875"/>
          </a:xfrm>
          <a:prstGeom xmlns:a="http://schemas.openxmlformats.org/drawingml/2006/main" prst="roundRect">
            <a:avLst>
              <a:gd name="adj" fmla="val 5926"/>
            </a:avLst>
          </a:prstGeom>
          <a:ln xmlns:a="http://schemas.openxmlformats.org/drawingml/2006/main" w="11906">
            <a:solidFill>
              <a:srgbClr val="BA4A6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D1CC0-E727-45FE-8456-9153025C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197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Claim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399AB-8214-4569-84A8-8D213000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591175"/>
            <a:ext cx="331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节点数和 primitive 数不是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wall-clock speedup。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B195B-62D0-410F-817F-E55F3C93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Source: Task 1 graph_stats.csv; Task 2 graph_costs.csv</a:t>
            </a:r>
          </a:p>
        </p:txBody>
      </p:sp>
    </p:spTree>
    <p:extLst>
      <p:ext uri="{BB962C8B-B14F-4D97-AF65-F5344CB8AC3E}">
        <p14:creationId xmlns:p14="http://schemas.microsoft.com/office/powerpoint/2010/main" val="11937368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原生验证：从 IR 到编译器 oracle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000FE-3E9F-4F94-8440-250242D0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Task 5–6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6EF13-2251-4983-B320-1E65A52A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11906">
            <a:solidFill>
              <a:srgbClr val="173F9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4D323-C0CD-411E-A34A-DF97C855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2D446-CA90-433F-9806-3CF8205E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NativeKernelIR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8A150-5E80-451A-8E30-38FE4FCA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76550"/>
            <a:ext cx="1647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typed SSA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CFG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BindingLayout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6622C-7952-4455-8E98-C5B5F4E2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3B928-8751-4BBB-9654-DFC2C742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EED8F-754D-4F02-BACC-1F04A193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05075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2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Generated Fortran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48CDB-5D40-4379-A449-56231BF8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76550"/>
            <a:ext cx="1647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deterministic source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SHA ff4aa2de…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15AAE-DDEA-4588-888F-A733C023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4312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11906">
            <a:solidFill>
              <a:srgbClr val="D7831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639B6-AE6A-45E2-A674-C4997552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876E1-5740-44C7-9047-8068470A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05075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Ubuntu 22.04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7EB97-7B4A-44A5-ADE8-37C3341C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76550"/>
            <a:ext cx="1647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gfortran 11.4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Docker rebuild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579E6-C9CE-421D-8C53-A260188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11906">
            <a:solidFill>
              <a:srgbClr val="2B8A5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188DA-3795-4858-897D-C354362B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E074E-61D6-43E1-A0C8-DBC38243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05075"/>
            <a:ext cx="1647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Oracle match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79CDA-CC8F-4B73-90B5-8B05B35A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76550"/>
            <a:ext cx="16478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10 fixtures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all discrete matches</a:t>
            </a:r>
          </a:p>
        </p:txBody>
      </p:sp>
      <p:cxnSp>
        <p:nvCxnSpPr>
          <p:cNvPr id="49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71750" y="2857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286375" y="2857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001000" y="2857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4B0A0-5FB4-405E-A4C8-3776ED24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rPr>
              <a:t>224/224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5B88E4-23B6-47A6-B694-9AAE6CEB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exact differential cases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CBB7A-EA2E-4481-8608-31A3A5CE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B901C-C28C-4998-B262-381171B9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14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Stage-1 exact graph calls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7338FE-5BAB-407E-B11A-AA3D095A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6.66×10⁻¹⁶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D86B6C-4036-4222-A485-191AC931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14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maximum primitive error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FCD2C9-3CF5-4A68-9EC8-BC8E1342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rPr>
              <a:t>LEVEL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995EC0-3571-43F9-AA70-91F16C10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14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pinned FEP-DMC toolchain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A064EF-EFDD-4E75-83DD-61342921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Source: Task 5 primitive_differential.csv; Task 6 native_differential.csv and integration_provenance.json</a:t>
            </a:r>
          </a:p>
        </p:txBody>
      </p:sp>
    </p:spTree>
    <p:extLst>
      <p:ext uri="{BB962C8B-B14F-4D97-AF65-F5344CB8AC3E}">
        <p14:creationId xmlns:p14="http://schemas.microsoft.com/office/powerpoint/2010/main" val="2793092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软件包过程：物理契约与发布证据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15686-F805-458F-95F5-A79A112F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每层都留下可审查工件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7E9A4-294A-4616-8A7B-DE7F1A4F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180975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11906">
            <a:solidFill>
              <a:srgbClr val="173F9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75199-52D4-40FC-83FE-9E7E1680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9907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0E266-2959-4C3B-AFD3-269641DF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193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90730-AEB1-4FB8-9887-318AADCD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908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IR, evaluators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backend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unit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97346-D211-4D69-9F29-3ADAFF82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57375"/>
            <a:ext cx="180975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13564-9C1D-46C3-B032-11E8FF5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9907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336F6-F9F3-404E-B7EA-C28F9D01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193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B8B96-9EBC-416E-BC48-96E41881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908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JSON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CSV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provenance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16FA3-8203-40D8-954D-E1DB510C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57375"/>
            <a:ext cx="180975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11906">
            <a:solidFill>
              <a:srgbClr val="D7831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C328F-68BA-4BB6-B690-4B557E93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9907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B271E-89A9-43E0-BF01-1BFD26DC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2193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DCA7F-33A0-4A04-80AE-25A0D0D3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908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pinned image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gfortran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source hash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3456D-5232-4CC5-A340-9F5FB4D4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57375"/>
            <a:ext cx="180975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1BD3F-6EC4-48C3-B842-5D75A8B7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9907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179C6-BD2C-4A35-B8CA-2635DAC3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2193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76524-B854-4A93-A3C4-25C8CD27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5908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CI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clean archive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differential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3D801-ECCC-4EB2-835C-061D0847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57375"/>
            <a:ext cx="180975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11906">
            <a:solidFill>
              <a:srgbClr val="2B8A5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218F70-F4AC-4EE8-A226-D567B734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9907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2B8A59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43BCF-F85E-4121-B06A-6D34F853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2193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CB4957-1E05-4244-B874-1991B640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590800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pre-release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evidence bundle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SHA256</a:t>
            </a:r>
          </a:p>
        </p:txBody>
      </p:sp>
      <p:cxnSp>
        <p:nvCxnSpPr>
          <p:cNvPr id="52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25" y="2619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524375" y="2619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715125" y="2619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905875" y="2619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FF3214-947A-4053-AFD2-4387B80E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审查重点从“是否能运行”扩展为：物理规则、近似策略、编译产物和外部工具链能否分别追溯。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87C396-84B7-4B1F-985F-5FA33102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Task 7 修复：R1 oracle 源码入库、Dockerfile、显式 FEP-DMC 路径与 GitHub Actions。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3F0C26-11FA-45D1-9091-A731480F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Source: Task 7 audit; GitHub CI run 35452501720</a:t>
            </a:r>
          </a:p>
        </p:txBody>
      </p:sp>
    </p:spTree>
    <p:extLst>
      <p:ext uri="{BB962C8B-B14F-4D97-AF65-F5344CB8AC3E}">
        <p14:creationId xmlns:p14="http://schemas.microsoft.com/office/powerpoint/2010/main" val="15220144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真实材料接入：需要一个新的 provider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07B8A-87BF-4F69-8A5A-4190B782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从第一性原理输入到可采样图对象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F6E00-9D18-422D-BBE2-06857563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143125"/>
            <a:ext cx="17145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11906">
            <a:solidFill>
              <a:srgbClr val="173F9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EB3B6-EF2C-4BE2-A478-33EE2332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FE287-9188-4EC4-B2A8-8B3405C5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5050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QE / DFPT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8C064-9B16-4131-9772-85EAE9B0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76550"/>
            <a:ext cx="1409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bands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phonons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coarse e-ph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F6E7E-DA8D-4769-BABA-5C5E4E97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17145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11906">
            <a:solidFill>
              <a:srgbClr val="335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13848-FD06-4329-B17C-5367A82C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C3596-9357-4CFA-8E54-3577684A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050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Wannier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B4EB2-DF4E-4329-B979-3101C9E8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76550"/>
            <a:ext cx="1409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localized basis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interpolation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EC974-71F6-417B-8FF1-55690822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17145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11906">
            <a:solidFill>
              <a:srgbClr val="D7831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34B14-FF48-4EF8-920A-4759022F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D78318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26525-8B61-4E16-8B50-21DA30EB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050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Perturbo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18804-4FDE-41F4-972D-35906572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76550"/>
            <a:ext cx="1409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ε(k)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ω(q)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g(k,q)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1760D2-7887-4D4B-8A2F-CBFA2F56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19050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11906">
            <a:solidFill>
              <a:srgbClr val="BA4A6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72D2A-3880-481F-AB7D-530F191B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BA4A63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32BFD-808A-4BBE-89A7-5B5131D5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05075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Provider adapter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ECEBC-F7E1-4783-B196-147CA3BA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76550"/>
            <a:ext cx="160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units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gauge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BindingLayout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8409A6-01DC-4126-A0F1-A3DA1EF3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43125"/>
            <a:ext cx="19050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046CB-1F10-4FB4-A2C4-69E96CEF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764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169D9C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4E8414-C86A-49B8-96C6-CE3F3C09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05075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2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Diagram compiler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2DDF0-0650-461F-9396-898C2CF7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876550"/>
            <a:ext cx="160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graph factors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measure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reversible move</a:t>
            </a:r>
          </a:p>
        </p:txBody>
      </p:sp>
      <p:cxnSp>
        <p:nvCxnSpPr>
          <p:cNvPr id="52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47875" y="28813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95750" y="28813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143625" y="28813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382000" y="28813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5BC3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8BE520-B83C-41D8-B2BE-2E541A91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接入 gate：同一 Hamiltonian、单位/规范、积分 measure、Jacobian、反向 proposal、独立 reference。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D52C2F-824A-4EEB-932F-3E40517F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A4A6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BA4A63"/>
                </a:solidFill>
                <a:latin typeface="PingFang SC"/>
                <a:ea typeface="PingFang SC"/>
                <a:cs typeface="PingFang SC"/>
              </a:rPr>
              <a:t>当前状态：Task 6 验证 synthetic two-band n=1。真实材料 Binding、完整 observable 与生产 consumer 仍未建立。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FE26DA-13F9-4FF4-9448-2D890CC0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External workflow sources: Perturbo documentation; FEP-DMC repository. Current project boundary: Task 6.</a:t>
            </a:r>
          </a:p>
        </p:txBody>
      </p:sp>
    </p:spTree>
    <p:extLst>
      <p:ext uri="{BB962C8B-B14F-4D97-AF65-F5344CB8AC3E}">
        <p14:creationId xmlns:p14="http://schemas.microsoft.com/office/powerpoint/2010/main" val="10520506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96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173F96"/>
                </a:solidFill>
                <a:latin typeface="Lora"/>
                <a:ea typeface="Lora"/>
                <a:cs typeface="Lora"/>
              </a:rPr>
              <a:t>方法定位与下一步科学问题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891E5-9F08-46B4-AC80-A2D70426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35BC3"/>
                </a:solidFill>
                <a:latin typeface="PingFang SC"/>
                <a:ea typeface="PingFang SC"/>
                <a:cs typeface="PingFang SC"/>
              </a:rPr>
              <a:t>bounded physics-aware diagram compiler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1E902-E6C4-4409-BE18-C88FDC26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4762500" cy="2905125"/>
          </a:xfrm>
          <a:prstGeom xmlns:a="http://schemas.openxmlformats.org/drawingml/2006/main" prst="roundRect">
            <a:avLst>
              <a:gd name="adj" fmla="val 2623"/>
            </a:avLst>
          </a:prstGeom>
          <a:ln xmlns:a="http://schemas.openxmlformats.org/drawingml/2006/main" w="11906">
            <a:solidFill>
              <a:srgbClr val="169D9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A2325-E972-467C-97A3-6FA8E674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24075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已经建立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544C7-F693-4ECB-8C20-D71DC0CA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95550"/>
            <a:ext cx="4457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显式 DiagramIR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Exact / Cheap 双路径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Design B 精确校正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Typed NativeKernelIR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确定性 Fortran 与 LEVEL 2 toolchain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8DDB8-294D-430B-BE7C-0D0D273B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62125"/>
            <a:ext cx="4762500" cy="2905125"/>
          </a:xfrm>
          <a:prstGeom xmlns:a="http://schemas.openxmlformats.org/drawingml/2006/main" prst="roundRect">
            <a:avLst>
              <a:gd name="adj" fmla="val 2623"/>
            </a:avLst>
          </a:prstGeom>
          <a:ln xmlns:a="http://schemas.openxmlformats.org/drawingml/2006/main" w="11906">
            <a:solidFill>
              <a:srgbClr val="BA4A6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EBD1F-E407-4A5B-8F45-771EA5C3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124075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82B49"/>
                </a:solidFill>
                <a:latin typeface="PingFang SC"/>
                <a:ea typeface="PingFang SC"/>
                <a:cs typeface="PingFang SC"/>
              </a:rPr>
              <a:t>尚待建立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67E85-2FC5-423D-98D9-10E02CE1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495550"/>
            <a:ext cx="4457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任意拓扑/任意阶编译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真实材料 provider 与完整 observable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生产 FEP-DMC / P1 replacement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同精度 Monte Carlo 加速</a:t>
            </a:r>
          </a:p>
          <a:p xmlns:a="http://schemas.openxmlformats.org/drawingml/2006/main">
            <a:pPr>
              <a:def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1657F"/>
                </a:solidFill>
                <a:latin typeface="PingFang SC"/>
                <a:ea typeface="PingFang SC"/>
                <a:cs typeface="PingFang SC"/>
              </a:rPr>
              <a:t>跨材料泛化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83A92-5822-4DCA-B65C-F62DB06A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73F96"/>
                </a:solidFill>
                <a:latin typeface="PingFang SC"/>
                <a:ea typeface="PingFang SC"/>
                <a:cs typeface="PingFang SC"/>
              </a:rPr>
              <a:t>最稳妥的主张：这是图表示、精确保持延迟接受、原生 lowering 与可复现验证链的计算方法创新。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CA945-D22E-4748-9F26-A1E99EBD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7C8BA1"/>
                </a:solidFill>
                <a:latin typeface="PingFang SC"/>
                <a:ea typeface="PingFang SC"/>
                <a:cs typeface="PingFang SC"/>
              </a:rPr>
              <a:t>Claim boundary: Task 7 audit and Diagram Compiler v0.1.0 Research Preview</a:t>
            </a:r>
          </a:p>
        </p:txBody>
      </p:sp>
    </p:spTree>
    <p:extLst>
      <p:ext uri="{BB962C8B-B14F-4D97-AF65-F5344CB8AC3E}">
        <p14:creationId xmlns:p14="http://schemas.microsoft.com/office/powerpoint/2010/main" val="95591672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2026-09-24T04:39:51.2530000Z</dcterms:created>
  <dcterms:modified xsi:type="dcterms:W3CDTF">2026-09-24T04:39:51.2530000Z</dcterms:modified>
</coreProperties>
</file>